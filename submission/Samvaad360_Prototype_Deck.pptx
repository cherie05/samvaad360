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0bd01b187941c8" /><Relationship Type="http://schemas.openxmlformats.org/officeDocument/2006/relationships/extended-properties" Target="/docProps/app.xml" Id="R6226553ad2cf4127" /><Relationship Type="http://schemas.openxmlformats.org/officeDocument/2006/relationships/officeDocument" Target="/ppt/presentation.xml" Id="R7d03d8ec67db4622" /></Relationships>
</file>

<file path=ppt/presentation.xml><?xml version="1.0" encoding="utf-8"?>
<p:presentation xmlns:p="http://schemas.openxmlformats.org/presentationml/2006/main">
  <p:sldMasterIdLst>
    <p:sldMasterId xmlns:r="http://schemas.openxmlformats.org/officeDocument/2006/relationships" id="2147483648" r:id="R06d2fe6da91d4379"/>
  </p:sldMasterIdLst>
  <p:notesMasterIdLst>
    <p:notesMasterId xmlns:r="http://schemas.openxmlformats.org/officeDocument/2006/relationships" r:id="R2adac27501704af7"/>
  </p:notesMasterIdLst>
  <p:sldIdLst>
    <p:sldId xmlns:r="http://schemas.openxmlformats.org/officeDocument/2006/relationships" id="256" r:id="Rf204effde6cf4419"/>
    <p:sldId xmlns:r="http://schemas.openxmlformats.org/officeDocument/2006/relationships" id="257" r:id="R4f95298f87384e1f"/>
    <p:sldId xmlns:r="http://schemas.openxmlformats.org/officeDocument/2006/relationships" id="258" r:id="R434d1a0882c84846"/>
    <p:sldId xmlns:r="http://schemas.openxmlformats.org/officeDocument/2006/relationships" id="259" r:id="R359034c5f9604d3a"/>
    <p:sldId xmlns:r="http://schemas.openxmlformats.org/officeDocument/2006/relationships" id="260" r:id="R146574b283104ad8"/>
    <p:sldId xmlns:r="http://schemas.openxmlformats.org/officeDocument/2006/relationships" id="261" r:id="R5e9cbe77b70d41e4"/>
    <p:sldId xmlns:r="http://schemas.openxmlformats.org/officeDocument/2006/relationships" id="262" r:id="R77260034681d4e0a"/>
    <p:sldId xmlns:r="http://schemas.openxmlformats.org/officeDocument/2006/relationships" id="263" r:id="Ra06ed4b6cddf498b"/>
    <p:sldId xmlns:r="http://schemas.openxmlformats.org/officeDocument/2006/relationships" id="264" r:id="R5cca757ad0474e84"/>
    <p:sldId xmlns:r="http://schemas.openxmlformats.org/officeDocument/2006/relationships" id="265" r:id="R52b495d5e73547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102cf06cac4e47" /><Relationship Type="http://schemas.openxmlformats.org/officeDocument/2006/relationships/slideMaster" Target="/ppt/slideMasters/slideMaster1.xml" Id="R06d2fe6da91d4379" /><Relationship Type="http://schemas.openxmlformats.org/officeDocument/2006/relationships/notesMaster" Target="/ppt/notesMasters/notesMaster1.xml" Id="R2adac27501704af7" /><Relationship Type="http://schemas.openxmlformats.org/officeDocument/2006/relationships/presProps" Target="/ppt/presProps.xml" Id="Rcbb5d0a5c0cc48d7" /><Relationship Type="http://schemas.openxmlformats.org/officeDocument/2006/relationships/tableStyles" Target="/ppt/tableStyles.xml" Id="Rf37e3e7abb754e4a" /><Relationship Type="http://schemas.openxmlformats.org/officeDocument/2006/relationships/slide" Target="/ppt/slides/slide1.xml" Id="Rf204effde6cf4419" /><Relationship Type="http://schemas.openxmlformats.org/officeDocument/2006/relationships/slide" Target="/ppt/slides/slide2.xml" Id="R4f95298f87384e1f" /><Relationship Type="http://schemas.openxmlformats.org/officeDocument/2006/relationships/slide" Target="/ppt/slides/slide3.xml" Id="R434d1a0882c84846" /><Relationship Type="http://schemas.openxmlformats.org/officeDocument/2006/relationships/slide" Target="/ppt/slides/slide4.xml" Id="R359034c5f9604d3a" /><Relationship Type="http://schemas.openxmlformats.org/officeDocument/2006/relationships/slide" Target="/ppt/slides/slide5.xml" Id="R146574b283104ad8" /><Relationship Type="http://schemas.openxmlformats.org/officeDocument/2006/relationships/slide" Target="/ppt/slides/slide6.xml" Id="R5e9cbe77b70d41e4" /><Relationship Type="http://schemas.openxmlformats.org/officeDocument/2006/relationships/slide" Target="/ppt/slides/slide7.xml" Id="R77260034681d4e0a" /><Relationship Type="http://schemas.openxmlformats.org/officeDocument/2006/relationships/slide" Target="/ppt/slides/slide8.xml" Id="Ra06ed4b6cddf498b" /><Relationship Type="http://schemas.openxmlformats.org/officeDocument/2006/relationships/slide" Target="/ppt/slides/slide9.xml" Id="R5cca757ad0474e84" /><Relationship Type="http://schemas.openxmlformats.org/officeDocument/2006/relationships/slide" Target="/ppt/slides/slide10.xml" Id="R52b495d5e73547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284df4667c4b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530757ad624b4b" /><Relationship Type="http://schemas.openxmlformats.org/officeDocument/2006/relationships/notesMaster" Target="/ppt/notesMasters/notesMaster1.xml" Id="Rcb9637ef8be74c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994ace4c6b4780" /><Relationship Type="http://schemas.openxmlformats.org/officeDocument/2006/relationships/notesMaster" Target="/ppt/notesMasters/notesMaster1.xml" Id="R0f0bf0fa4b354e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6dd39a85fc4da7" /><Relationship Type="http://schemas.openxmlformats.org/officeDocument/2006/relationships/notesMaster" Target="/ppt/notesMasters/notesMaster1.xml" Id="R1d3233297cc248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cdf590a84847a3" /><Relationship Type="http://schemas.openxmlformats.org/officeDocument/2006/relationships/notesMaster" Target="/ppt/notesMasters/notesMaster1.xml" Id="Rda1bb241316a41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2298c3232c468e" /><Relationship Type="http://schemas.openxmlformats.org/officeDocument/2006/relationships/notesMaster" Target="/ppt/notesMasters/notesMaster1.xml" Id="R280d37e4068d4f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081767171149d2" /><Relationship Type="http://schemas.openxmlformats.org/officeDocument/2006/relationships/notesMaster" Target="/ppt/notesMasters/notesMaster1.xml" Id="R6e9e82845a334b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5514c7f81540ca" /><Relationship Type="http://schemas.openxmlformats.org/officeDocument/2006/relationships/notesMaster" Target="/ppt/notesMasters/notesMaster1.xml" Id="Rb84d7363e51141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7b4f0fcc1d4336" /><Relationship Type="http://schemas.openxmlformats.org/officeDocument/2006/relationships/notesMaster" Target="/ppt/notesMasters/notesMaster1.xml" Id="R9139e58624624d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26d19fba4f4eab" /><Relationship Type="http://schemas.openxmlformats.org/officeDocument/2006/relationships/notesMaster" Target="/ppt/notesMasters/notesMaster1.xml" Id="R0624ff0ea45b4b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c27a530dbc4b76" /><Relationship Type="http://schemas.openxmlformats.org/officeDocument/2006/relationships/notesMaster" Target="/ppt/notesMasters/notesMaster1.xml" Id="R619a8cc397c942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Samvaad360 demonstrates the Lending side of the Customer 360 and Next Best Action Engine track. Public URL uses a restricted read-only Snowflake snapshot. All borrower records and public review/conversation outcomes are fictional. This is an implemented prototype, not a production lending approval service.</a:t>
            </a:r>
          </a:p>
          <a:p xmlns:a="http://schemas.openxmlformats.org/drawingml/2006/main">
            <a:r>
              <a:t/>
            </a:r>
          </a:p>
          <a:p xmlns:a="http://schemas.openxmlformats.org/drawingml/2006/main">
            <a:r>
              <a:t>[Sources]</a:t>
            </a:r>
          </a:p>
          <a:p xmlns:a="http://schemas.openxmlformats.org/drawingml/2006/main">
            <a:r>
              <a:t>https://samvaad360.streamlit.app/ — actual hosted screenshot, 6 October 2026</a:t>
            </a:r>
          </a:p>
          <a:p xmlns:a="http://schemas.openxmlformats.org/drawingml/2006/main">
            <a:r>
              <a:t>Local verification artifact: output/cloud/public-browser/hosted/result.json</a:t>
            </a:r>
          </a:p>
          <a:p xmlns:a="http://schemas.openxmlformats.org/drawingml/2006/main">
            <a:r>
              <a:t>https://github.com/Cherie05/samvaad360/blob/main/docs/production-readiness.md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an incomplete relationship view across structured lending facts and unstructured interactions. The screen is the actual public Customer 360. Scores and indicative terms in the application are illustrative rules, not predictions or final credit approvals. No measured business uplift is claimed.</a:t>
            </a:r>
          </a:p>
          <a:p xmlns:a="http://schemas.openxmlformats.org/drawingml/2006/main">
            <a:r>
              <a:t/>
            </a:r>
          </a:p>
          <a:p xmlns:a="http://schemas.openxmlformats.org/drawingml/2006/main">
            <a:r>
              <a:t>[Sources]</a:t>
            </a:r>
          </a:p>
          <a:p xmlns:a="http://schemas.openxmlformats.org/drawingml/2006/main">
            <a:r>
              <a:t>https://github.com/Cherie05/samvaad360/blob/main/samvaad/engine.py</a:t>
            </a:r>
          </a:p>
          <a:p xmlns:a="http://schemas.openxmlformats.org/drawingml/2006/main">
            <a:r>
              <a:t>https://samvaad360.streamlit.app/ — Customer 360 screenshot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customer onboarding, source import, source mappings, cases and contact requests are isolated to the visitor session and do not alter the shared Snowflake demo. The authenticated local staff portal uses persistent SQLite and a scoped borrower capability link. Customer intake does not create a loan or complete KYC.</a:t>
            </a:r>
          </a:p>
          <a:p xmlns:a="http://schemas.openxmlformats.org/drawingml/2006/main">
            <a:r>
              <a:t/>
            </a:r>
          </a:p>
          <a:p xmlns:a="http://schemas.openxmlformats.org/drawingml/2006/main">
            <a:r>
              <a:t>[Sources]</a:t>
            </a:r>
          </a:p>
          <a:p xmlns:a="http://schemas.openxmlformats.org/drawingml/2006/main">
            <a:r>
              <a:t>https://github.com/Cherie05/samvaad360/blob/main/public_app/ui/relationship.py</a:t>
            </a:r>
          </a:p>
          <a:p xmlns:a="http://schemas.openxmlformats.org/drawingml/2006/main">
            <a:r>
              <a:t>https://github.com/Cherie05/samvaad360/blob/main/samvaad/relationship.py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stack is Python Streamlit frontend, protected fixed Snowflake snapshot reader, FastAPI operational backend and SQLite local persistence. Private Snowflake publisher and export outbox are implemented but private writer activation is pending. Production would also require managed operational storage, authentication, observability and verified provider deployment.</a:t>
            </a:r>
          </a:p>
          <a:p xmlns:a="http://schemas.openxmlformats.org/drawingml/2006/main">
            <a:r>
              <a:t/>
            </a:r>
          </a:p>
          <a:p xmlns:a="http://schemas.openxmlformats.org/drawingml/2006/main">
            <a:r>
              <a:t>[Sources]</a:t>
            </a:r>
          </a:p>
          <a:p xmlns:a="http://schemas.openxmlformats.org/drawingml/2006/main">
            <a:r>
              <a:t>https://github.com/Cherie05/samvaad360/blob/main/public_app/repository.py</a:t>
            </a:r>
          </a:p>
          <a:p xmlns:a="http://schemas.openxmlformats.org/drawingml/2006/main">
            <a:r>
              <a:t>https://github.com/Cherie05/samvaad360/blob/main/webhook/main.py</a:t>
            </a:r>
          </a:p>
          <a:p xmlns:a="http://schemas.openxmlformats.org/drawingml/2006/main">
            <a:r>
              <a:t>https://github.com/Cherie05/samvaad360/blob/main/samvaad/relationship.py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modular application capabilities are demonstrated in the hosted and local browser checks. Repository contains .cortex/skills/samvaad-evidence, samvaad-generate and samvaad-approved-runner. The evidence skill reads grounded local customer facts; generate creates a policy-checked recommendation; the approved runner executes only an explicitly approved local synthetic action. Presence of these definitions is not proof of an authenticated end-to-end CoCo CLI run. That proof remains pending at deck generation.</a:t>
            </a:r>
          </a:p>
          <a:p xmlns:a="http://schemas.openxmlformats.org/drawingml/2006/main">
            <a:r>
              <a:t/>
            </a:r>
          </a:p>
          <a:p xmlns:a="http://schemas.openxmlformats.org/drawingml/2006/main">
            <a:r>
              <a:t>[Sources]</a:t>
            </a:r>
          </a:p>
          <a:p xmlns:a="http://schemas.openxmlformats.org/drawingml/2006/main">
            <a:r>
              <a:t>https://github.com/Cherie05/samvaad360/blob/main/.cortex/skills/samvaad-evidence/SKILL.md</a:t>
            </a:r>
          </a:p>
          <a:p xmlns:a="http://schemas.openxmlformats.org/drawingml/2006/main">
            <a:r>
              <a:t>https://github.com/Cherie05/samvaad360/blob/main/.cortex/skills/samvaad-generate/SKILL.md</a:t>
            </a:r>
          </a:p>
          <a:p xmlns:a="http://schemas.openxmlformats.org/drawingml/2006/main">
            <a:r>
              <a:t>https://github.com/Cherie05/samvaad360/blob/main/.cortex/skills/samvaad-approved-runner/SKILL.md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Hosted browser test entered a fictional borrower hardship reply in the conversation rehearsal. The engine reevaluated actual new visit evidence, removed growth eligibility and recorded human handoff. Browser speech controls are present, but audio audibility was not verified by the automation. Twilio provider adapter exists but is disabled and no real telephone call was placed.</a:t>
            </a:r>
          </a:p>
          <a:p xmlns:a="http://schemas.openxmlformats.org/drawingml/2006/main">
            <a:r>
              <a:t/>
            </a:r>
          </a:p>
          <a:p xmlns:a="http://schemas.openxmlformats.org/drawingml/2006/main">
            <a:r>
              <a:t>[Sources]</a:t>
            </a:r>
          </a:p>
          <a:p xmlns:a="http://schemas.openxmlformats.org/drawingml/2006/main">
            <a:r>
              <a:t>Local verification artifact: output/cloud/public-browser/hosted/result.json — checks 8 and 9</a:t>
            </a:r>
          </a:p>
          <a:p xmlns:a="http://schemas.openxmlformats.org/drawingml/2006/main">
            <a:r>
              <a:t>https://github.com/Cherie05/samvaad360/blob/main/samvaad/engine.py</a:t>
            </a:r>
          </a:p>
          <a:p xmlns:a="http://schemas.openxmlformats.org/drawingml/2006/main">
            <a:r>
              <a:t>https://samvaad360.streamlit.app/ — call-outcome screenshot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uploads are capped at 1 MB and 200 records. JSON full-relationship example includes linked customer, loan, payment and interaction records. Preview validates types, references, versions and conflicts. Local commit is atomic and revalidated. Reviewed onboarding can be linked to source customer IDs; names alone never merge people. The public screenshot shows four fictional records applied only to this visit, not shared Snowflake.</a:t>
            </a:r>
          </a:p>
          <a:p xmlns:a="http://schemas.openxmlformats.org/drawingml/2006/main">
            <a:r>
              <a:t/>
            </a:r>
          </a:p>
          <a:p xmlns:a="http://schemas.openxmlformats.org/drawingml/2006/main">
            <a:r>
              <a:t>[Sources]</a:t>
            </a:r>
          </a:p>
          <a:p xmlns:a="http://schemas.openxmlformats.org/drawingml/2006/main">
            <a:r>
              <a:t>https://github.com/Cherie05/samvaad360/blob/main/samvaad/relationship.py</a:t>
            </a:r>
          </a:p>
          <a:p xmlns:a="http://schemas.openxmlformats.org/drawingml/2006/main">
            <a:r>
              <a:t>https://github.com/Cherie05/samvaad360/blob/main/public_app/ui/relationship.py</a:t>
            </a:r>
          </a:p>
          <a:p xmlns:a="http://schemas.openxmlformats.org/drawingml/2006/main">
            <a:r>
              <a:t>Local verification artifact: output/cloud/public-browser/hosted/result.json — source import checks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controls include read-only dedicated Snowflake user/fixed queries, shared hourly snapshot reuse, application query reservations, hosted usage guard, consent and DND gates, hardship suppression, approval fingerprints and idempotency. Operational API adds scoped portal capabilities, rate admission and signed provider callbacks. Public Streamlit is not behind the prepared per-IP gateway; do not claim per-IP host enforcement or total Snowflake account credit cap. Telephony is disabled until provider, identity, policy and deployment configuration are completed.</a:t>
            </a:r>
          </a:p>
          <a:p xmlns:a="http://schemas.openxmlformats.org/drawingml/2006/main">
            <a:r>
              <a:t/>
            </a:r>
          </a:p>
          <a:p xmlns:a="http://schemas.openxmlformats.org/drawingml/2006/main">
            <a:r>
              <a:t>[Sources]</a:t>
            </a:r>
          </a:p>
          <a:p xmlns:a="http://schemas.openxmlformats.org/drawingml/2006/main">
            <a:r>
              <a:t>https://github.com/Cherie05/samvaad360/blob/main/public_app/security.py</a:t>
            </a:r>
          </a:p>
          <a:p xmlns:a="http://schemas.openxmlformats.org/drawingml/2006/main">
            <a:r>
              <a:t>https://github.com/Cherie05/samvaad360/blob/main/samvaad/telephony.py</a:t>
            </a:r>
          </a:p>
          <a:p xmlns:a="http://schemas.openxmlformats.org/drawingml/2006/main">
            <a:r>
              <a:t>https://github.com/Cherie05/samvaad360/blob/main/webhook/main.py</a:t>
            </a:r>
          </a:p>
          <a:p xmlns:a="http://schemas.openxmlformats.org/drawingml/2006/main">
            <a:r>
              <a:t>https://samvaad360.streamlit.app/ — usage-protection screenshot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CI run 37483107870 passed 557 tests. Anonymous hosted browser evidence passed 20 checks at 2026-10-06T15:00:27 UTC with Snowflake backend verified. Private staff/borrower browser report passed 6 checks. These are functional prototype checks, not penetration testing, audited lending compliance or real carrier call validation. Private cloud writer activation, managed operational storage/SSO, operational provider deployment and authenticated CoCo end-to-end recording remain gates.</a:t>
            </a:r>
          </a:p>
          <a:p xmlns:a="http://schemas.openxmlformats.org/drawingml/2006/main">
            <a:r>
              <a:t/>
            </a:r>
          </a:p>
          <a:p xmlns:a="http://schemas.openxmlformats.org/drawingml/2006/main">
            <a:r>
              <a:t>[Sources]</a:t>
            </a:r>
          </a:p>
          <a:p xmlns:a="http://schemas.openxmlformats.org/drawingml/2006/main">
            <a:r>
              <a:t>https://github.com/Cherie05/samvaad360/actions/runs/37483107870</a:t>
            </a:r>
          </a:p>
          <a:p xmlns:a="http://schemas.openxmlformats.org/drawingml/2006/main">
            <a:r>
              <a:t>Local verification artifact: output/cloud/public-browser/hosted/result.json</a:t>
            </a:r>
          </a:p>
          <a:p xmlns:a="http://schemas.openxmlformats.org/drawingml/2006/main">
            <a:r>
              <a:t>Local verification artifact: output/cloud/relationship-browser/result.json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reviewer links are clickable. Website reads a restricted live Snowflake synthetic snapshot. The public demonstration never writes customer data to shared Snowflake, executes a financial action, sends an invitation or dials a telephone. For judging, pair this deck with an actual end-to-end workflow recording. Organizer template was not available at generation; see external template_mapping.txt for provisional custom-deck mapping.</a:t>
            </a:r>
          </a:p>
          <a:p xmlns:a="http://schemas.openxmlformats.org/drawingml/2006/main">
            <a:r>
              <a:t/>
            </a:r>
          </a:p>
          <a:p xmlns:a="http://schemas.openxmlformats.org/drawingml/2006/main">
            <a:r>
              <a:t>[Sources]</a:t>
            </a:r>
          </a:p>
          <a:p xmlns:a="http://schemas.openxmlformats.org/drawingml/2006/main">
            <a:r>
              <a:t>https://samvaad360.streamlit.app/</a:t>
            </a:r>
          </a:p>
          <a:p xmlns:a="http://schemas.openxmlformats.org/drawingml/2006/main">
            <a:r>
              <a:t>https://github.com/Cherie05/samvaad360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4d0e0d29544e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905ffbbc66447e" /><Relationship Type="http://schemas.openxmlformats.org/officeDocument/2006/relationships/slideLayout" Target="/ppt/slideLayouts/slideLayout1.xml" Id="R781a7aaca42446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1a7aaca42446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fac8dcbb98494d" /><Relationship Type="http://schemas.openxmlformats.org/officeDocument/2006/relationships/image" Target="/ppt/media/image.png" Id="Ra9fb25dec58b415c" /><Relationship Type="http://schemas.openxmlformats.org/officeDocument/2006/relationships/notesSlide" Target="/ppt/notesSlides/notesSlide1.xml" Id="Rb6e7c6d5e12344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1985ca88354048" /><Relationship Type="http://schemas.openxmlformats.org/officeDocument/2006/relationships/image" Target="/ppt/media/image2.png" Id="R74638599ba5c4d3b" /><Relationship Type="http://schemas.openxmlformats.org/officeDocument/2006/relationships/notesSlide" Target="/ppt/notesSlides/notesSlide2.xml" Id="R99526c08ffee4a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43061cf5774e98" /><Relationship Type="http://schemas.openxmlformats.org/officeDocument/2006/relationships/notesSlide" Target="/ppt/notesSlides/notesSlide3.xml" Id="Ra3134ebde38147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784ca57388475f" /><Relationship Type="http://schemas.openxmlformats.org/officeDocument/2006/relationships/notesSlide" Target="/ppt/notesSlides/notesSlide4.xml" Id="R906291aca43343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b38ccc7e344ca3" /><Relationship Type="http://schemas.openxmlformats.org/officeDocument/2006/relationships/notesSlide" Target="/ppt/notesSlides/notesSlide5.xml" Id="Rd4658d276e0d49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9f0831f96b48f4" /><Relationship Type="http://schemas.openxmlformats.org/officeDocument/2006/relationships/image" Target="/ppt/media/image3.png" Id="R058c17631d4e4244" /><Relationship Type="http://schemas.openxmlformats.org/officeDocument/2006/relationships/notesSlide" Target="/ppt/notesSlides/notesSlide6.xml" Id="R17192c9049e94b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ae7fce827f4e07" /><Relationship Type="http://schemas.openxmlformats.org/officeDocument/2006/relationships/image" Target="/ppt/media/image4.png" Id="R42a67453722f4b98" /><Relationship Type="http://schemas.openxmlformats.org/officeDocument/2006/relationships/notesSlide" Target="/ppt/notesSlides/notesSlide7.xml" Id="Rd297ceab071640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8cad93dc1343cf" /><Relationship Type="http://schemas.openxmlformats.org/officeDocument/2006/relationships/image" Target="/ppt/media/image5.png" Id="R8387c6da05a54237" /><Relationship Type="http://schemas.openxmlformats.org/officeDocument/2006/relationships/notesSlide" Target="/ppt/notesSlides/notesSlide8.xml" Id="R383d7fb07e5a42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08b75fac0e4a2b" /><Relationship Type="http://schemas.openxmlformats.org/officeDocument/2006/relationships/notesSlide" Target="/ppt/notesSlides/notesSlide9.xml" Id="R74ff50073c2a46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cb2792cde04515" /><Relationship Type="http://schemas.openxmlformats.org/officeDocument/2006/relationships/hyperlink" Target="https://samvaad360.streamlit.app/" TargetMode="External" Id="R3ebb09cff85c4c54" /><Relationship Type="http://schemas.openxmlformats.org/officeDocument/2006/relationships/hyperlink" Target="https://github.com/Cherie05/samvaad360" TargetMode="External" Id="R7d5be6df40f5470f" /><Relationship Type="http://schemas.openxmlformats.org/officeDocument/2006/relationships/notesSlide" Target="/ppt/notesSlides/notesSlide10.xml" Id="R28e31214891942c2" /></Relationships>
</file>

<file path=ppt/slides/slide1.xml><?xml version="1.0" encoding="utf-8"?>
<p:sld xmlns:p="http://schemas.openxmlformats.org/presentationml/2006/main">
  <p:cSld>
    <p:bg>
      <p:bgPr>
        <a:solidFill xmlns:a="http://schemas.openxmlformats.org/drawingml/2006/main">
          <a:srgbClr val="143D35"/>
        </a:solidFill>
      </p:bgPr>
    </p:bg>
    <p:spTree>
      <p:nvGrpSpPr>
        <p:cNvPr id="1" name=""/>
        <p:cNvGrpSpPr/>
        <p:nvPr/>
      </p:nvGrpSpPr>
      <p:grpSpPr>
        <a:xfrm xmlns:a="http://schemas.openxmlformats.org/drawingml/2006/main"/>
      </p:grpSpPr>
      <p:sp>
        <p:nvSpPr>
          <p:cNvPr id="11" name="s1-eyebrow">
            <a:extLst xmlns:a="http://schemas.openxmlformats.org/drawingml/2006/main">
              <a:ext uri="{FF2B5EF4-FFF2-40B4-BE49-F238E27FC236}">
                <a16:creationId xmlns:a16="http://schemas.microsoft.com/office/drawing/2014/main" id="{5733FCE4-A241-45E6-8CF1-2FF05D69D1BD}"/>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DDEEE4"/>
                </a:solidFill>
                <a:latin typeface="Aptos"/>
                <a:ea typeface="Aptos"/>
                <a:cs typeface="Aptos"/>
              </a:defRPr>
            </a:pPr>
            <a:r>
              <a:rPr sz="1200" b="1">
                <a:solidFill>
                  <a:srgbClr val="DDEEE4"/>
                </a:solidFill>
                <a:latin typeface="Aptos"/>
                <a:ea typeface="Aptos"/>
                <a:cs typeface="Aptos"/>
              </a:rPr>
              <a:t>CUSTOMER 360 AND NEXT BEST ACTION ENGINE</a:t>
            </a:r>
          </a:p>
        </p:txBody>
      </p:sp>
      <p:sp>
        <p:nvSpPr>
          <p:cNvPr id="2" name="s1-footer-rule">
            <a:extLst xmlns:a="http://schemas.openxmlformats.org/drawingml/2006/main">
              <a:ext uri="{FF2B5EF4-FFF2-40B4-BE49-F238E27FC236}">
                <a16:creationId xmlns:a16="http://schemas.microsoft.com/office/drawing/2014/main" id="{C93BA584-571F-4F1F-A05A-14B7DC865227}"/>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47675E"/>
          </a:solidFill>
          <a:ln xmlns:a="http://schemas.openxmlformats.org/drawingml/2006/main" w="0">
            <a:noFill/>
            <a:prstDash val="solid"/>
          </a:ln>
        </p:spPr>
      </p:sp>
      <p:sp>
        <p:nvSpPr>
          <p:cNvPr id="3" name="s1-footer">
            <a:extLst xmlns:a="http://schemas.openxmlformats.org/drawingml/2006/main">
              <a:ext uri="{FF2B5EF4-FFF2-40B4-BE49-F238E27FC236}">
                <a16:creationId xmlns:a16="http://schemas.microsoft.com/office/drawing/2014/main" id="{FB8F9B3B-190F-4668-B5F2-15D9E7B5702E}"/>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DDEEE4"/>
                </a:solidFill>
                <a:latin typeface="Aptos"/>
                <a:ea typeface="Aptos"/>
                <a:cs typeface="Aptos"/>
              </a:defRPr>
            </a:pPr>
            <a:r>
              <a:rPr sz="1125" b="0">
                <a:solidFill>
                  <a:srgbClr val="DDEEE4"/>
                </a:solidFill>
                <a:latin typeface="Aptos"/>
                <a:ea typeface="Aptos"/>
                <a:cs typeface="Aptos"/>
              </a:rPr>
              <a:t>Samvaad360 · Customer 360 + Next Best Action · Synthetic lending prototype</a:t>
            </a:r>
          </a:p>
        </p:txBody>
      </p:sp>
      <p:sp>
        <p:nvSpPr>
          <p:cNvPr id="4" name="s1-number">
            <a:extLst xmlns:a="http://schemas.openxmlformats.org/drawingml/2006/main">
              <a:ext uri="{FF2B5EF4-FFF2-40B4-BE49-F238E27FC236}">
                <a16:creationId xmlns:a16="http://schemas.microsoft.com/office/drawing/2014/main" id="{20E70EB2-4984-44D5-9037-EA28913F0D84}"/>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DDEEE4"/>
                </a:solidFill>
                <a:latin typeface="Aptos"/>
                <a:ea typeface="Aptos"/>
                <a:cs typeface="Aptos"/>
              </a:defRPr>
            </a:pPr>
            <a:r>
              <a:rPr sz="1275" b="0">
                <a:solidFill>
                  <a:srgbClr val="DDEEE4"/>
                </a:solidFill>
                <a:latin typeface="Aptos"/>
                <a:ea typeface="Aptos"/>
                <a:cs typeface="Aptos"/>
              </a:rPr>
              <a:t>01</a:t>
            </a:r>
          </a:p>
        </p:txBody>
      </p:sp>
      <p:sp>
        <p:nvSpPr>
          <p:cNvPr id="5" name="cover-brand">
            <a:extLst xmlns:a="http://schemas.openxmlformats.org/drawingml/2006/main">
              <a:ext uri="{FF2B5EF4-FFF2-40B4-BE49-F238E27FC236}">
                <a16:creationId xmlns:a16="http://schemas.microsoft.com/office/drawing/2014/main" id="{582BEDD1-D51F-4CE4-826A-7CE8D3B253FE}"/>
              </a:ext>
            </a:extLst>
          </p:cNvPr>
          <p:cNvSpPr>
            <a:spLocks xmlns:a="http://schemas.openxmlformats.org/drawingml/2006/main" noGrp="1"/>
          </p:cNvSpPr>
          <p:nvPr/>
        </p:nvSpPr>
        <p:spPr>
          <a:xfrm xmlns:a="http://schemas.openxmlformats.org/drawingml/2006/main">
            <a:off x="609600" y="1114425"/>
            <a:ext cx="666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850" b="1">
                <a:solidFill>
                  <a:srgbClr val="F5F7F3"/>
                </a:solidFill>
                <a:latin typeface="Aptos"/>
                <a:ea typeface="Aptos"/>
                <a:cs typeface="Aptos"/>
              </a:defRPr>
            </a:pPr>
            <a:r>
              <a:rPr sz="5850" b="1">
                <a:solidFill>
                  <a:srgbClr val="F5F7F3"/>
                </a:solidFill>
                <a:latin typeface="Aptos"/>
                <a:ea typeface="Aptos"/>
                <a:cs typeface="Aptos"/>
              </a:rPr>
              <a:t>Samvaad360</a:t>
            </a:r>
          </a:p>
        </p:txBody>
      </p:sp>
      <p:sp>
        <p:nvSpPr>
          <p:cNvPr id="6" name="cover-title">
            <a:extLst xmlns:a="http://schemas.openxmlformats.org/drawingml/2006/main">
              <a:ext uri="{FF2B5EF4-FFF2-40B4-BE49-F238E27FC236}">
                <a16:creationId xmlns:a16="http://schemas.microsoft.com/office/drawing/2014/main" id="{9EC39ACF-D8A8-46D7-9F4B-5DE640A41FA4}"/>
              </a:ext>
            </a:extLst>
          </p:cNvPr>
          <p:cNvSpPr>
            <a:spLocks xmlns:a="http://schemas.openxmlformats.org/drawingml/2006/main" noGrp="1"/>
          </p:cNvSpPr>
          <p:nvPr/>
        </p:nvSpPr>
        <p:spPr>
          <a:xfrm xmlns:a="http://schemas.openxmlformats.org/drawingml/2006/main">
            <a:off x="609600" y="2200275"/>
            <a:ext cx="5619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350" b="1">
                <a:solidFill>
                  <a:srgbClr val="F5F7F3"/>
                </a:solidFill>
                <a:latin typeface="Aptos"/>
                <a:ea typeface="Aptos"/>
                <a:cs typeface="Aptos"/>
              </a:defRPr>
            </a:pPr>
            <a:r>
              <a:rPr sz="4350" b="1">
                <a:solidFill>
                  <a:srgbClr val="F5F7F3"/>
                </a:solidFill>
                <a:latin typeface="Aptos"/>
                <a:ea typeface="Aptos"/>
                <a:cs typeface="Aptos"/>
              </a:rPr>
              <a:t>A better next</a:t>
            </a:r>
          </a:p>
          <a:p xmlns:a="http://schemas.openxmlformats.org/drawingml/2006/main">
            <a:pPr algn="l">
              <a:lnSpc>
                <a:spcPct val="108000"/>
              </a:lnSpc>
              <a:buNone/>
              <a:defRPr sz="4350" b="1">
                <a:solidFill>
                  <a:srgbClr val="F5F7F3"/>
                </a:solidFill>
                <a:latin typeface="Aptos"/>
                <a:ea typeface="Aptos"/>
                <a:cs typeface="Aptos"/>
              </a:defRPr>
            </a:pPr>
            <a:r>
              <a:rPr sz="4350" b="1">
                <a:solidFill>
                  <a:srgbClr val="F5F7F3"/>
                </a:solidFill>
                <a:latin typeface="Aptos"/>
                <a:ea typeface="Aptos"/>
                <a:cs typeface="Aptos"/>
              </a:rPr>
              <a:t>conversation.</a:t>
            </a:r>
          </a:p>
        </p:txBody>
      </p:sp>
      <p:sp>
        <p:nvSpPr>
          <p:cNvPr id="7" name="cover-subtitle">
            <a:extLst xmlns:a="http://schemas.openxmlformats.org/drawingml/2006/main">
              <a:ext uri="{FF2B5EF4-FFF2-40B4-BE49-F238E27FC236}">
                <a16:creationId xmlns:a16="http://schemas.microsoft.com/office/drawing/2014/main" id="{2D1C2EFC-261B-4F18-8366-AA5D4030551B}"/>
              </a:ext>
            </a:extLst>
          </p:cNvPr>
          <p:cNvSpPr>
            <a:spLocks xmlns:a="http://schemas.openxmlformats.org/drawingml/2006/main" noGrp="1"/>
          </p:cNvSpPr>
          <p:nvPr/>
        </p:nvSpPr>
        <p:spPr>
          <a:xfrm xmlns:a="http://schemas.openxmlformats.org/drawingml/2006/main">
            <a:off x="609600" y="3971925"/>
            <a:ext cx="4810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DDEEE4"/>
                </a:solidFill>
                <a:latin typeface="Aptos"/>
                <a:ea typeface="Aptos"/>
                <a:cs typeface="Aptos"/>
              </a:defRPr>
            </a:pPr>
            <a:r>
              <a:rPr sz="2025" b="0">
                <a:solidFill>
                  <a:srgbClr val="DDEEE4"/>
                </a:solidFill>
                <a:latin typeface="Aptos"/>
                <a:ea typeface="Aptos"/>
                <a:cs typeface="Aptos"/>
              </a:rPr>
              <a:t>Borrower context → evidence → reviewable intervention</a:t>
            </a:r>
          </a:p>
        </p:txBody>
      </p:sp>
      <p:sp>
        <p:nvSpPr>
          <p:cNvPr id="8" name="cover-scope">
            <a:extLst xmlns:a="http://schemas.openxmlformats.org/drawingml/2006/main">
              <a:ext uri="{FF2B5EF4-FFF2-40B4-BE49-F238E27FC236}">
                <a16:creationId xmlns:a16="http://schemas.microsoft.com/office/drawing/2014/main" id="{78E3D364-099D-4F1F-BFED-699A8589CDC2}"/>
              </a:ext>
            </a:extLst>
          </p:cNvPr>
          <p:cNvSpPr>
            <a:spLocks xmlns:a="http://schemas.openxmlformats.org/drawingml/2006/main" noGrp="1"/>
          </p:cNvSpPr>
          <p:nvPr/>
        </p:nvSpPr>
        <p:spPr>
          <a:xfrm xmlns:a="http://schemas.openxmlformats.org/drawingml/2006/main">
            <a:off x="609600" y="5467350"/>
            <a:ext cx="5715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DDEEE4"/>
                </a:solidFill>
                <a:latin typeface="Aptos"/>
                <a:ea typeface="Aptos"/>
                <a:cs typeface="Aptos"/>
              </a:defRPr>
            </a:pPr>
            <a:r>
              <a:rPr sz="1500" b="0">
                <a:solidFill>
                  <a:srgbClr val="DDEEE4"/>
                </a:solidFill>
                <a:latin typeface="Aptos"/>
                <a:ea typeface="Aptos"/>
                <a:cs typeface="Aptos"/>
              </a:rPr>
              <a:t>Verified prototype · 6 October 2026</a:t>
            </a:r>
          </a:p>
          <a:p xmlns:a="http://schemas.openxmlformats.org/drawingml/2006/main">
            <a:pPr algn="l">
              <a:lnSpc>
                <a:spcPct val="108000"/>
              </a:lnSpc>
              <a:buNone/>
              <a:defRPr sz="1500" b="0">
                <a:solidFill>
                  <a:srgbClr val="DDEEE4"/>
                </a:solidFill>
                <a:latin typeface="Aptos"/>
                <a:ea typeface="Aptos"/>
                <a:cs typeface="Aptos"/>
              </a:defRPr>
            </a:pPr>
            <a:r>
              <a:rPr sz="1500" b="0">
                <a:solidFill>
                  <a:srgbClr val="DDEEE4"/>
                </a:solidFill>
                <a:latin typeface="Aptos"/>
                <a:ea typeface="Aptos"/>
                <a:cs typeface="Aptos"/>
              </a:rPr>
              <a:t>Lending demonstration · Fictional customer data</a:t>
            </a:r>
          </a:p>
        </p:txBody>
      </p:sp>
      <p:sp>
        <p:nvSpPr>
          <p:cNvPr id="9" name="cover-screen-frame">
            <a:extLst xmlns:a="http://schemas.openxmlformats.org/drawingml/2006/main">
              <a:ext uri="{FF2B5EF4-FFF2-40B4-BE49-F238E27FC236}">
                <a16:creationId xmlns:a16="http://schemas.microsoft.com/office/drawing/2014/main" id="{7503D816-73EC-4EDC-9086-CA08498C14DB}"/>
              </a:ext>
            </a:extLst>
          </p:cNvPr>
          <p:cNvSpPr>
            <a:spLocks xmlns:a="http://schemas.openxmlformats.org/drawingml/2006/main" noGrp="1"/>
          </p:cNvSpPr>
          <p:nvPr/>
        </p:nvSpPr>
        <p:spPr>
          <a:xfrm xmlns:a="http://schemas.openxmlformats.org/drawingml/2006/main">
            <a:off x="6467475" y="1990725"/>
            <a:ext cx="5114925" cy="3829050"/>
          </a:xfrm>
          <a:prstGeom xmlns:a="http://schemas.openxmlformats.org/drawingml/2006/main" prst="roundRect">
            <a:avLst>
              <a:gd name="adj" fmla="val 2488"/>
            </a:avLst>
          </a:prstGeom>
          <a:solidFill xmlns:a="http://schemas.openxmlformats.org/drawingml/2006/main">
            <a:srgbClr val="FFFFFF"/>
          </a:solidFill>
          <a:ln xmlns:a="http://schemas.openxmlformats.org/drawingml/2006/main" w="9525">
            <a:solidFill>
              <a:srgbClr val="CDDBD4"/>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9fb25dec58b415c"/>
          <a:stretch xmlns:a="http://schemas.openxmlformats.org/drawingml/2006/main"/>
        </p:blipFill>
        <p:spPr>
          <a:xfrm xmlns:a="http://schemas.openxmlformats.org/drawingml/2006/main">
            <a:off x="6920007" y="2000250"/>
            <a:ext cx="4209861" cy="3810000"/>
          </a:xfrm>
          <a:prstGeom xmlns:a="http://schemas.openxmlformats.org/drawingml/2006/main" prst="rect">
            <a:avLst/>
          </a:prstGeom>
        </p:spPr>
      </p:pic>
    </p:spTree>
    <p:extLst>
      <p:ext uri="{BB962C8B-B14F-4D97-AF65-F5344CB8AC3E}">
        <p14:creationId xmlns:p14="http://schemas.microsoft.com/office/powerpoint/2010/main" val="153935382"/>
      </p:ext>
    </p:extLst>
  </p:cSld>
</p:sld>
</file>

<file path=ppt/slides/slide2.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8" name="s2-eyebrow">
            <a:extLst xmlns:a="http://schemas.openxmlformats.org/drawingml/2006/main">
              <a:ext uri="{FF2B5EF4-FFF2-40B4-BE49-F238E27FC236}">
                <a16:creationId xmlns:a16="http://schemas.microsoft.com/office/drawing/2014/main" id="{377092B3-665F-4A01-AEBF-F6C226755DEA}"/>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F7964"/>
                </a:solidFill>
                <a:latin typeface="Aptos"/>
                <a:ea typeface="Aptos"/>
                <a:cs typeface="Aptos"/>
              </a:defRPr>
            </a:pPr>
            <a:r>
              <a:rPr sz="1200" b="1">
                <a:solidFill>
                  <a:srgbClr val="0F7964"/>
                </a:solidFill>
                <a:latin typeface="Aptos"/>
                <a:ea typeface="Aptos"/>
                <a:cs typeface="Aptos"/>
              </a:rPr>
              <a:t>SAMVAAD360 / LENDING</a:t>
            </a:r>
          </a:p>
        </p:txBody>
      </p:sp>
      <p:sp>
        <p:nvSpPr>
          <p:cNvPr id="2" name="s2-title">
            <a:extLst xmlns:a="http://schemas.openxmlformats.org/drawingml/2006/main">
              <a:ext uri="{FF2B5EF4-FFF2-40B4-BE49-F238E27FC236}">
                <a16:creationId xmlns:a16="http://schemas.microsoft.com/office/drawing/2014/main" id="{49F217FC-75E8-4496-AD35-B4E4840CE7F5}"/>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43D35"/>
                </a:solidFill>
                <a:latin typeface="Aptos"/>
                <a:ea typeface="Aptos"/>
                <a:cs typeface="Aptos"/>
              </a:defRPr>
            </a:pPr>
            <a:r>
              <a:rPr sz="3600" b="1">
                <a:solidFill>
                  <a:srgbClr val="143D35"/>
                </a:solidFill>
                <a:latin typeface="Aptos"/>
                <a:ea typeface="Aptos"/>
                <a:cs typeface="Aptos"/>
              </a:rPr>
              <a:t>The borrower’s context gets lost.</a:t>
            </a:r>
          </a:p>
        </p:txBody>
      </p:sp>
      <p:sp>
        <p:nvSpPr>
          <p:cNvPr id="3" name="s2-footer-rule">
            <a:extLst xmlns:a="http://schemas.openxmlformats.org/drawingml/2006/main">
              <a:ext uri="{FF2B5EF4-FFF2-40B4-BE49-F238E27FC236}">
                <a16:creationId xmlns:a16="http://schemas.microsoft.com/office/drawing/2014/main" id="{4CA46AC3-A850-468D-8A50-E635673D0E98}"/>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4" name="s2-footer">
            <a:extLst xmlns:a="http://schemas.openxmlformats.org/drawingml/2006/main">
              <a:ext uri="{FF2B5EF4-FFF2-40B4-BE49-F238E27FC236}">
                <a16:creationId xmlns:a16="http://schemas.microsoft.com/office/drawing/2014/main" id="{17C5E5F6-3EA2-4D62-92BC-5FCDFC3A20F0}"/>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537269"/>
                </a:solidFill>
                <a:latin typeface="Aptos"/>
                <a:ea typeface="Aptos"/>
                <a:cs typeface="Aptos"/>
              </a:defRPr>
            </a:pPr>
            <a:r>
              <a:rPr sz="1125" b="0">
                <a:solidFill>
                  <a:srgbClr val="537269"/>
                </a:solidFill>
                <a:latin typeface="Aptos"/>
                <a:ea typeface="Aptos"/>
                <a:cs typeface="Aptos"/>
              </a:rPr>
              <a:t>Samvaad360 · Customer 360 + Next Best Action · Synthetic lending prototype</a:t>
            </a:r>
          </a:p>
        </p:txBody>
      </p:sp>
      <p:sp>
        <p:nvSpPr>
          <p:cNvPr id="5" name="s2-number">
            <a:extLst xmlns:a="http://schemas.openxmlformats.org/drawingml/2006/main">
              <a:ext uri="{FF2B5EF4-FFF2-40B4-BE49-F238E27FC236}">
                <a16:creationId xmlns:a16="http://schemas.microsoft.com/office/drawing/2014/main" id="{626F46F0-AF2D-46BB-884D-B1C5CB0FABD7}"/>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537269"/>
                </a:solidFill>
                <a:latin typeface="Aptos"/>
                <a:ea typeface="Aptos"/>
                <a:cs typeface="Aptos"/>
              </a:defRPr>
            </a:pPr>
            <a:r>
              <a:rPr sz="1275" b="0">
                <a:solidFill>
                  <a:srgbClr val="537269"/>
                </a:solidFill>
                <a:latin typeface="Aptos"/>
                <a:ea typeface="Aptos"/>
                <a:cs typeface="Aptos"/>
              </a:rPr>
              <a:t>02</a:t>
            </a:r>
          </a:p>
        </p:txBody>
      </p:sp>
      <p:sp>
        <p:nvSpPr>
          <p:cNvPr id="6" name="problem-lede">
            <a:extLst xmlns:a="http://schemas.openxmlformats.org/drawingml/2006/main">
              <a:ext uri="{FF2B5EF4-FFF2-40B4-BE49-F238E27FC236}">
                <a16:creationId xmlns:a16="http://schemas.microsoft.com/office/drawing/2014/main" id="{DEE6D27E-727F-44DB-9A5A-D7295CE04F1D}"/>
              </a:ext>
            </a:extLst>
          </p:cNvPr>
          <p:cNvSpPr>
            <a:spLocks xmlns:a="http://schemas.openxmlformats.org/drawingml/2006/main" noGrp="1"/>
          </p:cNvSpPr>
          <p:nvPr/>
        </p:nvSpPr>
        <p:spPr>
          <a:xfrm xmlns:a="http://schemas.openxmlformats.org/drawingml/2006/main">
            <a:off x="609600" y="17907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537269"/>
                </a:solidFill>
                <a:latin typeface="Aptos"/>
                <a:ea typeface="Aptos"/>
                <a:cs typeface="Aptos"/>
              </a:defRPr>
            </a:pPr>
            <a:r>
              <a:rPr sz="2025" b="0">
                <a:solidFill>
                  <a:srgbClr val="537269"/>
                </a:solidFill>
                <a:latin typeface="Aptos"/>
                <a:ea typeface="Aptos"/>
                <a:cs typeface="Aptos"/>
              </a:rPr>
              <a:t>Repayment history is only part of the relationship.</a:t>
            </a:r>
          </a:p>
        </p:txBody>
      </p:sp>
      <p:sp>
        <p:nvSpPr>
          <p:cNvPr id="7" name="row-1-num">
            <a:extLst xmlns:a="http://schemas.openxmlformats.org/drawingml/2006/main">
              <a:ext uri="{FF2B5EF4-FFF2-40B4-BE49-F238E27FC236}">
                <a16:creationId xmlns:a16="http://schemas.microsoft.com/office/drawing/2014/main" id="{79FF396C-837C-43A0-9050-01348569B647}"/>
              </a:ext>
            </a:extLst>
          </p:cNvPr>
          <p:cNvSpPr>
            <a:spLocks xmlns:a="http://schemas.openxmlformats.org/drawingml/2006/main" noGrp="1"/>
          </p:cNvSpPr>
          <p:nvPr/>
        </p:nvSpPr>
        <p:spPr>
          <a:xfrm xmlns:a="http://schemas.openxmlformats.org/drawingml/2006/main">
            <a:off x="609600" y="2476500"/>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0F7964"/>
                </a:solidFill>
                <a:latin typeface="Aptos"/>
                <a:ea typeface="Aptos"/>
                <a:cs typeface="Aptos"/>
              </a:defRPr>
            </a:pPr>
            <a:r>
              <a:rPr sz="2175" b="1">
                <a:solidFill>
                  <a:srgbClr val="0F7964"/>
                </a:solidFill>
                <a:latin typeface="Aptos"/>
                <a:ea typeface="Aptos"/>
                <a:cs typeface="Aptos"/>
              </a:rPr>
              <a:t>01</a:t>
            </a:r>
          </a:p>
        </p:txBody>
      </p:sp>
      <p:sp>
        <p:nvSpPr>
          <p:cNvPr id="8" name="row-1-head">
            <a:extLst xmlns:a="http://schemas.openxmlformats.org/drawingml/2006/main">
              <a:ext uri="{FF2B5EF4-FFF2-40B4-BE49-F238E27FC236}">
                <a16:creationId xmlns:a16="http://schemas.microsoft.com/office/drawing/2014/main" id="{C51D386E-6007-4509-B326-93A60FCAE39D}"/>
              </a:ext>
            </a:extLst>
          </p:cNvPr>
          <p:cNvSpPr>
            <a:spLocks xmlns:a="http://schemas.openxmlformats.org/drawingml/2006/main" noGrp="1"/>
          </p:cNvSpPr>
          <p:nvPr/>
        </p:nvSpPr>
        <p:spPr>
          <a:xfrm xmlns:a="http://schemas.openxmlformats.org/drawingml/2006/main">
            <a:off x="1276350" y="24765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Structured facts</a:t>
            </a:r>
          </a:p>
        </p:txBody>
      </p:sp>
      <p:sp>
        <p:nvSpPr>
          <p:cNvPr id="9" name="row-1-body">
            <a:extLst xmlns:a="http://schemas.openxmlformats.org/drawingml/2006/main">
              <a:ext uri="{FF2B5EF4-FFF2-40B4-BE49-F238E27FC236}">
                <a16:creationId xmlns:a16="http://schemas.microsoft.com/office/drawing/2014/main" id="{2569020F-BBA4-450A-BA54-3B6F4CC41631}"/>
              </a:ext>
            </a:extLst>
          </p:cNvPr>
          <p:cNvSpPr>
            <a:spLocks xmlns:a="http://schemas.openxmlformats.org/drawingml/2006/main" noGrp="1"/>
          </p:cNvSpPr>
          <p:nvPr/>
        </p:nvSpPr>
        <p:spPr>
          <a:xfrm xmlns:a="http://schemas.openxmlformats.org/drawingml/2006/main">
            <a:off x="1276350" y="29241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Loans, payments and affordability.</a:t>
            </a:r>
          </a:p>
        </p:txBody>
      </p:sp>
      <p:sp>
        <p:nvSpPr>
          <p:cNvPr id="10" name="row-2-num">
            <a:extLst xmlns:a="http://schemas.openxmlformats.org/drawingml/2006/main">
              <a:ext uri="{FF2B5EF4-FFF2-40B4-BE49-F238E27FC236}">
                <a16:creationId xmlns:a16="http://schemas.microsoft.com/office/drawing/2014/main" id="{31D82E84-AB30-4DA4-BF83-C95603E575AA}"/>
              </a:ext>
            </a:extLst>
          </p:cNvPr>
          <p:cNvSpPr>
            <a:spLocks xmlns:a="http://schemas.openxmlformats.org/drawingml/2006/main" noGrp="1"/>
          </p:cNvSpPr>
          <p:nvPr/>
        </p:nvSpPr>
        <p:spPr>
          <a:xfrm xmlns:a="http://schemas.openxmlformats.org/drawingml/2006/main">
            <a:off x="609600" y="3695700"/>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0F7964"/>
                </a:solidFill>
                <a:latin typeface="Aptos"/>
                <a:ea typeface="Aptos"/>
                <a:cs typeface="Aptos"/>
              </a:defRPr>
            </a:pPr>
            <a:r>
              <a:rPr sz="2175" b="1">
                <a:solidFill>
                  <a:srgbClr val="0F7964"/>
                </a:solidFill>
                <a:latin typeface="Aptos"/>
                <a:ea typeface="Aptos"/>
                <a:cs typeface="Aptos"/>
              </a:rPr>
              <a:t>02</a:t>
            </a:r>
          </a:p>
        </p:txBody>
      </p:sp>
      <p:sp>
        <p:nvSpPr>
          <p:cNvPr id="11" name="row-2-head">
            <a:extLst xmlns:a="http://schemas.openxmlformats.org/drawingml/2006/main">
              <a:ext uri="{FF2B5EF4-FFF2-40B4-BE49-F238E27FC236}">
                <a16:creationId xmlns:a16="http://schemas.microsoft.com/office/drawing/2014/main" id="{76468357-F694-459F-83F9-8C9110492067}"/>
              </a:ext>
            </a:extLst>
          </p:cNvPr>
          <p:cNvSpPr>
            <a:spLocks xmlns:a="http://schemas.openxmlformats.org/drawingml/2006/main" noGrp="1"/>
          </p:cNvSpPr>
          <p:nvPr/>
        </p:nvSpPr>
        <p:spPr>
          <a:xfrm xmlns:a="http://schemas.openxmlformats.org/drawingml/2006/main">
            <a:off x="1276350" y="36957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Unstructured context</a:t>
            </a:r>
          </a:p>
        </p:txBody>
      </p:sp>
      <p:sp>
        <p:nvSpPr>
          <p:cNvPr id="12" name="row-2-body">
            <a:extLst xmlns:a="http://schemas.openxmlformats.org/drawingml/2006/main">
              <a:ext uri="{FF2B5EF4-FFF2-40B4-BE49-F238E27FC236}">
                <a16:creationId xmlns:a16="http://schemas.microsoft.com/office/drawing/2014/main" id="{14D4FB90-27D0-4363-BA42-9450776E5DC7}"/>
              </a:ext>
            </a:extLst>
          </p:cNvPr>
          <p:cNvSpPr>
            <a:spLocks xmlns:a="http://schemas.openxmlformats.org/drawingml/2006/main" noGrp="1"/>
          </p:cNvSpPr>
          <p:nvPr/>
        </p:nvSpPr>
        <p:spPr>
          <a:xfrm xmlns:a="http://schemas.openxmlformats.org/drawingml/2006/main">
            <a:off x="1276350" y="41433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Calls, email and the borrower’s words.</a:t>
            </a:r>
          </a:p>
        </p:txBody>
      </p:sp>
      <p:sp>
        <p:nvSpPr>
          <p:cNvPr id="13" name="row-3-num">
            <a:extLst xmlns:a="http://schemas.openxmlformats.org/drawingml/2006/main">
              <a:ext uri="{FF2B5EF4-FFF2-40B4-BE49-F238E27FC236}">
                <a16:creationId xmlns:a16="http://schemas.microsoft.com/office/drawing/2014/main" id="{64532724-1B62-40CC-9E04-0FC068BB11C1}"/>
              </a:ext>
            </a:extLst>
          </p:cNvPr>
          <p:cNvSpPr>
            <a:spLocks xmlns:a="http://schemas.openxmlformats.org/drawingml/2006/main" noGrp="1"/>
          </p:cNvSpPr>
          <p:nvPr/>
        </p:nvSpPr>
        <p:spPr>
          <a:xfrm xmlns:a="http://schemas.openxmlformats.org/drawingml/2006/main">
            <a:off x="609600" y="4914900"/>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0F7964"/>
                </a:solidFill>
                <a:latin typeface="Aptos"/>
                <a:ea typeface="Aptos"/>
                <a:cs typeface="Aptos"/>
              </a:defRPr>
            </a:pPr>
            <a:r>
              <a:rPr sz="2175" b="1">
                <a:solidFill>
                  <a:srgbClr val="0F7964"/>
                </a:solidFill>
                <a:latin typeface="Aptos"/>
                <a:ea typeface="Aptos"/>
                <a:cs typeface="Aptos"/>
              </a:rPr>
              <a:t>03</a:t>
            </a:r>
          </a:p>
        </p:txBody>
      </p:sp>
      <p:sp>
        <p:nvSpPr>
          <p:cNvPr id="14" name="row-3-head">
            <a:extLst xmlns:a="http://schemas.openxmlformats.org/drawingml/2006/main">
              <a:ext uri="{FF2B5EF4-FFF2-40B4-BE49-F238E27FC236}">
                <a16:creationId xmlns:a16="http://schemas.microsoft.com/office/drawing/2014/main" id="{94EB6612-6CC4-4765-B843-011F3B38D550}"/>
              </a:ext>
            </a:extLst>
          </p:cNvPr>
          <p:cNvSpPr>
            <a:spLocks xmlns:a="http://schemas.openxmlformats.org/drawingml/2006/main" noGrp="1"/>
          </p:cNvSpPr>
          <p:nvPr/>
        </p:nvSpPr>
        <p:spPr>
          <a:xfrm xmlns:a="http://schemas.openxmlformats.org/drawingml/2006/main">
            <a:off x="1276350" y="49149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Contact preferences</a:t>
            </a:r>
          </a:p>
        </p:txBody>
      </p:sp>
      <p:sp>
        <p:nvSpPr>
          <p:cNvPr id="15" name="row-3-body">
            <a:extLst xmlns:a="http://schemas.openxmlformats.org/drawingml/2006/main">
              <a:ext uri="{FF2B5EF4-FFF2-40B4-BE49-F238E27FC236}">
                <a16:creationId xmlns:a16="http://schemas.microsoft.com/office/drawing/2014/main" id="{F1E9069A-58A0-4C72-9CCC-E387A52FF071}"/>
              </a:ext>
            </a:extLst>
          </p:cNvPr>
          <p:cNvSpPr>
            <a:spLocks xmlns:a="http://schemas.openxmlformats.org/drawingml/2006/main" noGrp="1"/>
          </p:cNvSpPr>
          <p:nvPr/>
        </p:nvSpPr>
        <p:spPr>
          <a:xfrm xmlns:a="http://schemas.openxmlformats.org/drawingml/2006/main">
            <a:off x="1276350" y="53625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Permission, DND and human follow-up.</a:t>
            </a:r>
          </a:p>
        </p:txBody>
      </p:sp>
      <p:sp>
        <p:nvSpPr>
          <p:cNvPr id="16" name="customer-profile-frame">
            <a:extLst xmlns:a="http://schemas.openxmlformats.org/drawingml/2006/main">
              <a:ext uri="{FF2B5EF4-FFF2-40B4-BE49-F238E27FC236}">
                <a16:creationId xmlns:a16="http://schemas.microsoft.com/office/drawing/2014/main" id="{747510CF-AAB6-4985-BC3C-CAA29CC17452}"/>
              </a:ext>
            </a:extLst>
          </p:cNvPr>
          <p:cNvSpPr>
            <a:spLocks xmlns:a="http://schemas.openxmlformats.org/drawingml/2006/main" noGrp="1"/>
          </p:cNvSpPr>
          <p:nvPr/>
        </p:nvSpPr>
        <p:spPr>
          <a:xfrm xmlns:a="http://schemas.openxmlformats.org/drawingml/2006/main">
            <a:off x="6000750" y="2314575"/>
            <a:ext cx="5591175" cy="3829050"/>
          </a:xfrm>
          <a:prstGeom xmlns:a="http://schemas.openxmlformats.org/drawingml/2006/main" prst="roundRect">
            <a:avLst>
              <a:gd name="adj" fmla="val 2488"/>
            </a:avLst>
          </a:prstGeom>
          <a:solidFill xmlns:a="http://schemas.openxmlformats.org/drawingml/2006/main">
            <a:srgbClr val="FFFFFF"/>
          </a:solidFill>
          <a:ln xmlns:a="http://schemas.openxmlformats.org/drawingml/2006/main" w="9525">
            <a:solidFill>
              <a:srgbClr val="CDDBD4"/>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4638599ba5c4d3b"/>
          <a:stretch xmlns:a="http://schemas.openxmlformats.org/drawingml/2006/main"/>
        </p:blipFill>
        <p:spPr>
          <a:xfrm xmlns:a="http://schemas.openxmlformats.org/drawingml/2006/main">
            <a:off x="6010275" y="2510094"/>
            <a:ext cx="5572125" cy="3438011"/>
          </a:xfrm>
          <a:prstGeom xmlns:a="http://schemas.openxmlformats.org/drawingml/2006/main" prst="rect">
            <a:avLst/>
          </a:prstGeom>
        </p:spPr>
      </p:pic>
    </p:spTree>
    <p:extLst>
      <p:ext uri="{BB962C8B-B14F-4D97-AF65-F5344CB8AC3E}">
        <p14:creationId xmlns:p14="http://schemas.microsoft.com/office/powerpoint/2010/main" val="831491873"/>
      </p:ext>
    </p:extLst>
  </p:cSld>
</p:sld>
</file>

<file path=ppt/slides/slide3.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28" name="s3-eyebrow">
            <a:extLst xmlns:a="http://schemas.openxmlformats.org/drawingml/2006/main">
              <a:ext uri="{FF2B5EF4-FFF2-40B4-BE49-F238E27FC236}">
                <a16:creationId xmlns:a16="http://schemas.microsoft.com/office/drawing/2014/main" id="{6C993EFF-4C48-4B76-9404-AC45EF4B6228}"/>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F7964"/>
                </a:solidFill>
                <a:latin typeface="Aptos"/>
                <a:ea typeface="Aptos"/>
                <a:cs typeface="Aptos"/>
              </a:defRPr>
            </a:pPr>
            <a:r>
              <a:rPr sz="1200" b="1">
                <a:solidFill>
                  <a:srgbClr val="0F7964"/>
                </a:solidFill>
                <a:latin typeface="Aptos"/>
                <a:ea typeface="Aptos"/>
                <a:cs typeface="Aptos"/>
              </a:rPr>
              <a:t>SAMVAAD360 / LENDING</a:t>
            </a:r>
          </a:p>
        </p:txBody>
      </p:sp>
      <p:sp>
        <p:nvSpPr>
          <p:cNvPr id="2" name="s3-title">
            <a:extLst xmlns:a="http://schemas.openxmlformats.org/drawingml/2006/main">
              <a:ext uri="{FF2B5EF4-FFF2-40B4-BE49-F238E27FC236}">
                <a16:creationId xmlns:a16="http://schemas.microsoft.com/office/drawing/2014/main" id="{8FB210FD-6F00-45A4-9AD1-69AF920CB096}"/>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43D35"/>
                </a:solidFill>
                <a:latin typeface="Aptos"/>
                <a:ea typeface="Aptos"/>
                <a:cs typeface="Aptos"/>
              </a:defRPr>
            </a:pPr>
            <a:r>
              <a:rPr sz="3600" b="1">
                <a:solidFill>
                  <a:srgbClr val="143D35"/>
                </a:solidFill>
                <a:latin typeface="Aptos"/>
                <a:ea typeface="Aptos"/>
                <a:cs typeface="Aptos"/>
              </a:rPr>
              <a:t>One path through the whole relationship.</a:t>
            </a:r>
          </a:p>
        </p:txBody>
      </p:sp>
      <p:sp>
        <p:nvSpPr>
          <p:cNvPr id="3" name="s3-footer-rule">
            <a:extLst xmlns:a="http://schemas.openxmlformats.org/drawingml/2006/main">
              <a:ext uri="{FF2B5EF4-FFF2-40B4-BE49-F238E27FC236}">
                <a16:creationId xmlns:a16="http://schemas.microsoft.com/office/drawing/2014/main" id="{2F438139-8ED7-422E-B4AB-1674D94E519C}"/>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4" name="s3-footer">
            <a:extLst xmlns:a="http://schemas.openxmlformats.org/drawingml/2006/main">
              <a:ext uri="{FF2B5EF4-FFF2-40B4-BE49-F238E27FC236}">
                <a16:creationId xmlns:a16="http://schemas.microsoft.com/office/drawing/2014/main" id="{E1720466-5E04-4010-9F41-C16FE71CB55F}"/>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537269"/>
                </a:solidFill>
                <a:latin typeface="Aptos"/>
                <a:ea typeface="Aptos"/>
                <a:cs typeface="Aptos"/>
              </a:defRPr>
            </a:pPr>
            <a:r>
              <a:rPr sz="1125" b="0">
                <a:solidFill>
                  <a:srgbClr val="537269"/>
                </a:solidFill>
                <a:latin typeface="Aptos"/>
                <a:ea typeface="Aptos"/>
                <a:cs typeface="Aptos"/>
              </a:rPr>
              <a:t>Samvaad360 · Customer 360 + Next Best Action · Synthetic lending prototype</a:t>
            </a:r>
          </a:p>
        </p:txBody>
      </p:sp>
      <p:sp>
        <p:nvSpPr>
          <p:cNvPr id="5" name="s3-number">
            <a:extLst xmlns:a="http://schemas.openxmlformats.org/drawingml/2006/main">
              <a:ext uri="{FF2B5EF4-FFF2-40B4-BE49-F238E27FC236}">
                <a16:creationId xmlns:a16="http://schemas.microsoft.com/office/drawing/2014/main" id="{E4C1D6B3-3C45-4FB9-B27D-09845163EC05}"/>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537269"/>
                </a:solidFill>
                <a:latin typeface="Aptos"/>
                <a:ea typeface="Aptos"/>
                <a:cs typeface="Aptos"/>
              </a:defRPr>
            </a:pPr>
            <a:r>
              <a:rPr sz="1275" b="0">
                <a:solidFill>
                  <a:srgbClr val="537269"/>
                </a:solidFill>
                <a:latin typeface="Aptos"/>
                <a:ea typeface="Aptos"/>
                <a:cs typeface="Aptos"/>
              </a:rPr>
              <a:t>03</a:t>
            </a:r>
          </a:p>
        </p:txBody>
      </p:sp>
      <p:sp>
        <p:nvSpPr>
          <p:cNvPr id="6" name="lifecycle-intro">
            <a:extLst xmlns:a="http://schemas.openxmlformats.org/drawingml/2006/main">
              <a:ext uri="{FF2B5EF4-FFF2-40B4-BE49-F238E27FC236}">
                <a16:creationId xmlns:a16="http://schemas.microsoft.com/office/drawing/2014/main" id="{8C9CCDBB-D137-425B-844A-CB0D69A50E41}"/>
              </a:ext>
            </a:extLst>
          </p:cNvPr>
          <p:cNvSpPr>
            <a:spLocks xmlns:a="http://schemas.openxmlformats.org/drawingml/2006/main" noGrp="1"/>
          </p:cNvSpPr>
          <p:nvPr/>
        </p:nvSpPr>
        <p:spPr>
          <a:xfrm xmlns:a="http://schemas.openxmlformats.org/drawingml/2006/main">
            <a:off x="609600" y="18383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537269"/>
                </a:solidFill>
                <a:latin typeface="Aptos"/>
                <a:ea typeface="Aptos"/>
                <a:cs typeface="Aptos"/>
              </a:defRPr>
            </a:pPr>
            <a:r>
              <a:rPr sz="2025" b="0">
                <a:solidFill>
                  <a:srgbClr val="537269"/>
                </a:solidFill>
                <a:latin typeface="Aptos"/>
                <a:ea typeface="Aptos"/>
                <a:cs typeface="Aptos"/>
              </a:rPr>
              <a:t>Each stage carries its source, permission and review state forward.</a:t>
            </a:r>
          </a:p>
        </p:txBody>
      </p:sp>
      <p:sp>
        <p:nvSpPr>
          <p:cNvPr id="7" name="stage-0-num">
            <a:extLst xmlns:a="http://schemas.openxmlformats.org/drawingml/2006/main">
              <a:ext uri="{FF2B5EF4-FFF2-40B4-BE49-F238E27FC236}">
                <a16:creationId xmlns:a16="http://schemas.microsoft.com/office/drawing/2014/main" id="{AB8C55A1-0811-4E29-B859-50AFEF7384FA}"/>
              </a:ext>
            </a:extLst>
          </p:cNvPr>
          <p:cNvSpPr>
            <a:spLocks xmlns:a="http://schemas.openxmlformats.org/drawingml/2006/main" noGrp="1"/>
          </p:cNvSpPr>
          <p:nvPr/>
        </p:nvSpPr>
        <p:spPr>
          <a:xfrm xmlns:a="http://schemas.openxmlformats.org/drawingml/2006/main">
            <a:off x="609600" y="2676525"/>
            <a:ext cx="161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425" b="1">
                <a:solidFill>
                  <a:srgbClr val="0F7964"/>
                </a:solidFill>
                <a:latin typeface="Aptos"/>
                <a:ea typeface="Aptos"/>
                <a:cs typeface="Aptos"/>
              </a:defRPr>
            </a:pPr>
            <a:r>
              <a:rPr sz="4425" b="1">
                <a:solidFill>
                  <a:srgbClr val="0F7964"/>
                </a:solidFill>
                <a:latin typeface="Aptos"/>
                <a:ea typeface="Aptos"/>
                <a:cs typeface="Aptos"/>
              </a:rPr>
              <a:t>01</a:t>
            </a:r>
          </a:p>
        </p:txBody>
      </p:sp>
      <p:sp>
        <p:nvSpPr>
          <p:cNvPr id="8" name="stage-0-head">
            <a:extLst xmlns:a="http://schemas.openxmlformats.org/drawingml/2006/main">
              <a:ext uri="{FF2B5EF4-FFF2-40B4-BE49-F238E27FC236}">
                <a16:creationId xmlns:a16="http://schemas.microsoft.com/office/drawing/2014/main" id="{D17BB9F6-60C9-4D9C-BBFC-7CC93FDB9E4B}"/>
              </a:ext>
            </a:extLst>
          </p:cNvPr>
          <p:cNvSpPr>
            <a:spLocks xmlns:a="http://schemas.openxmlformats.org/drawingml/2006/main" noGrp="1"/>
          </p:cNvSpPr>
          <p:nvPr/>
        </p:nvSpPr>
        <p:spPr>
          <a:xfrm xmlns:a="http://schemas.openxmlformats.org/drawingml/2006/main">
            <a:off x="609600" y="3667125"/>
            <a:ext cx="1943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Intake</a:t>
            </a:r>
          </a:p>
        </p:txBody>
      </p:sp>
      <p:sp>
        <p:nvSpPr>
          <p:cNvPr id="9" name="stage-0-body">
            <a:extLst xmlns:a="http://schemas.openxmlformats.org/drawingml/2006/main">
              <a:ext uri="{FF2B5EF4-FFF2-40B4-BE49-F238E27FC236}">
                <a16:creationId xmlns:a16="http://schemas.microsoft.com/office/drawing/2014/main" id="{AEA9BCB4-66E0-41E5-9225-30EB3EEB8E2A}"/>
              </a:ext>
            </a:extLst>
          </p:cNvPr>
          <p:cNvSpPr>
            <a:spLocks xmlns:a="http://schemas.openxmlformats.org/drawingml/2006/main" noGrp="1"/>
          </p:cNvSpPr>
          <p:nvPr/>
        </p:nvSpPr>
        <p:spPr>
          <a:xfrm xmlns:a="http://schemas.openxmlformats.org/drawingml/2006/main">
            <a:off x="609600" y="4219575"/>
            <a:ext cx="1962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Capture customer</a:t>
            </a:r>
          </a:p>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and consent.</a:t>
            </a:r>
          </a:p>
        </p:txBody>
      </p:sp>
      <p:sp>
        <p:nvSpPr>
          <p:cNvPr id="10" name="stage-0-rule">
            <a:extLst xmlns:a="http://schemas.openxmlformats.org/drawingml/2006/main">
              <a:ext uri="{FF2B5EF4-FFF2-40B4-BE49-F238E27FC236}">
                <a16:creationId xmlns:a16="http://schemas.microsoft.com/office/drawing/2014/main" id="{3DA0F54F-D921-4BB2-B67C-6042BFAA1F2D}"/>
              </a:ext>
            </a:extLst>
          </p:cNvPr>
          <p:cNvSpPr>
            <a:spLocks xmlns:a="http://schemas.openxmlformats.org/drawingml/2006/main" noGrp="1"/>
          </p:cNvSpPr>
          <p:nvPr/>
        </p:nvSpPr>
        <p:spPr>
          <a:xfrm xmlns:a="http://schemas.openxmlformats.org/drawingml/2006/main">
            <a:off x="2324100" y="3057525"/>
            <a:ext cx="371475" cy="19050"/>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11" name="stage-1-num">
            <a:extLst xmlns:a="http://schemas.openxmlformats.org/drawingml/2006/main">
              <a:ext uri="{FF2B5EF4-FFF2-40B4-BE49-F238E27FC236}">
                <a16:creationId xmlns:a16="http://schemas.microsoft.com/office/drawing/2014/main" id="{0EE498F1-B1CD-490F-BC91-366820FD44F0}"/>
              </a:ext>
            </a:extLst>
          </p:cNvPr>
          <p:cNvSpPr>
            <a:spLocks xmlns:a="http://schemas.openxmlformats.org/drawingml/2006/main" noGrp="1"/>
          </p:cNvSpPr>
          <p:nvPr/>
        </p:nvSpPr>
        <p:spPr>
          <a:xfrm xmlns:a="http://schemas.openxmlformats.org/drawingml/2006/main">
            <a:off x="2847975" y="2676525"/>
            <a:ext cx="161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425" b="1">
                <a:solidFill>
                  <a:srgbClr val="0F7964"/>
                </a:solidFill>
                <a:latin typeface="Aptos"/>
                <a:ea typeface="Aptos"/>
                <a:cs typeface="Aptos"/>
              </a:defRPr>
            </a:pPr>
            <a:r>
              <a:rPr sz="4425" b="1">
                <a:solidFill>
                  <a:srgbClr val="0F7964"/>
                </a:solidFill>
                <a:latin typeface="Aptos"/>
                <a:ea typeface="Aptos"/>
                <a:cs typeface="Aptos"/>
              </a:rPr>
              <a:t>02</a:t>
            </a:r>
          </a:p>
        </p:txBody>
      </p:sp>
      <p:sp>
        <p:nvSpPr>
          <p:cNvPr id="12" name="stage-1-head">
            <a:extLst xmlns:a="http://schemas.openxmlformats.org/drawingml/2006/main">
              <a:ext uri="{FF2B5EF4-FFF2-40B4-BE49-F238E27FC236}">
                <a16:creationId xmlns:a16="http://schemas.microsoft.com/office/drawing/2014/main" id="{88E3601E-AD67-4CCE-97DD-77E140CC3C83}"/>
              </a:ext>
            </a:extLst>
          </p:cNvPr>
          <p:cNvSpPr>
            <a:spLocks xmlns:a="http://schemas.openxmlformats.org/drawingml/2006/main" noGrp="1"/>
          </p:cNvSpPr>
          <p:nvPr/>
        </p:nvSpPr>
        <p:spPr>
          <a:xfrm xmlns:a="http://schemas.openxmlformats.org/drawingml/2006/main">
            <a:off x="2847975" y="3667125"/>
            <a:ext cx="1943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Reconcile</a:t>
            </a:r>
          </a:p>
        </p:txBody>
      </p:sp>
      <p:sp>
        <p:nvSpPr>
          <p:cNvPr id="13" name="stage-1-body">
            <a:extLst xmlns:a="http://schemas.openxmlformats.org/drawingml/2006/main">
              <a:ext uri="{FF2B5EF4-FFF2-40B4-BE49-F238E27FC236}">
                <a16:creationId xmlns:a16="http://schemas.microsoft.com/office/drawing/2014/main" id="{327F918E-824A-41F2-A641-A3D33305D358}"/>
              </a:ext>
            </a:extLst>
          </p:cNvPr>
          <p:cNvSpPr>
            <a:spLocks xmlns:a="http://schemas.openxmlformats.org/drawingml/2006/main" noGrp="1"/>
          </p:cNvSpPr>
          <p:nvPr/>
        </p:nvSpPr>
        <p:spPr>
          <a:xfrm xmlns:a="http://schemas.openxmlformats.org/drawingml/2006/main">
            <a:off x="2847975" y="4219575"/>
            <a:ext cx="1962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Join source IDs</a:t>
            </a:r>
          </a:p>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and record versions.</a:t>
            </a:r>
          </a:p>
        </p:txBody>
      </p:sp>
      <p:sp>
        <p:nvSpPr>
          <p:cNvPr id="14" name="stage-1-rule">
            <a:extLst xmlns:a="http://schemas.openxmlformats.org/drawingml/2006/main">
              <a:ext uri="{FF2B5EF4-FFF2-40B4-BE49-F238E27FC236}">
                <a16:creationId xmlns:a16="http://schemas.microsoft.com/office/drawing/2014/main" id="{DA227233-B4C5-478A-947A-E673A5E451E0}"/>
              </a:ext>
            </a:extLst>
          </p:cNvPr>
          <p:cNvSpPr>
            <a:spLocks xmlns:a="http://schemas.openxmlformats.org/drawingml/2006/main" noGrp="1"/>
          </p:cNvSpPr>
          <p:nvPr/>
        </p:nvSpPr>
        <p:spPr>
          <a:xfrm xmlns:a="http://schemas.openxmlformats.org/drawingml/2006/main">
            <a:off x="4562475" y="3057525"/>
            <a:ext cx="371475" cy="19050"/>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15" name="stage-2-num">
            <a:extLst xmlns:a="http://schemas.openxmlformats.org/drawingml/2006/main">
              <a:ext uri="{FF2B5EF4-FFF2-40B4-BE49-F238E27FC236}">
                <a16:creationId xmlns:a16="http://schemas.microsoft.com/office/drawing/2014/main" id="{15CB522A-A014-48DA-8B86-BD41F10991DF}"/>
              </a:ext>
            </a:extLst>
          </p:cNvPr>
          <p:cNvSpPr>
            <a:spLocks xmlns:a="http://schemas.openxmlformats.org/drawingml/2006/main" noGrp="1"/>
          </p:cNvSpPr>
          <p:nvPr/>
        </p:nvSpPr>
        <p:spPr>
          <a:xfrm xmlns:a="http://schemas.openxmlformats.org/drawingml/2006/main">
            <a:off x="5086350" y="2676525"/>
            <a:ext cx="161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425" b="1">
                <a:solidFill>
                  <a:srgbClr val="0F7964"/>
                </a:solidFill>
                <a:latin typeface="Aptos"/>
                <a:ea typeface="Aptos"/>
                <a:cs typeface="Aptos"/>
              </a:defRPr>
            </a:pPr>
            <a:r>
              <a:rPr sz="4425" b="1">
                <a:solidFill>
                  <a:srgbClr val="0F7964"/>
                </a:solidFill>
                <a:latin typeface="Aptos"/>
                <a:ea typeface="Aptos"/>
                <a:cs typeface="Aptos"/>
              </a:rPr>
              <a:t>03</a:t>
            </a:r>
          </a:p>
        </p:txBody>
      </p:sp>
      <p:sp>
        <p:nvSpPr>
          <p:cNvPr id="16" name="stage-2-head">
            <a:extLst xmlns:a="http://schemas.openxmlformats.org/drawingml/2006/main">
              <a:ext uri="{FF2B5EF4-FFF2-40B4-BE49-F238E27FC236}">
                <a16:creationId xmlns:a16="http://schemas.microsoft.com/office/drawing/2014/main" id="{3702DEF9-CA98-4ADB-ADE9-E948D48508F7}"/>
              </a:ext>
            </a:extLst>
          </p:cNvPr>
          <p:cNvSpPr>
            <a:spLocks xmlns:a="http://schemas.openxmlformats.org/drawingml/2006/main" noGrp="1"/>
          </p:cNvSpPr>
          <p:nvPr/>
        </p:nvSpPr>
        <p:spPr>
          <a:xfrm xmlns:a="http://schemas.openxmlformats.org/drawingml/2006/main">
            <a:off x="5086350" y="3667125"/>
            <a:ext cx="1943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Understand</a:t>
            </a:r>
          </a:p>
        </p:txBody>
      </p:sp>
      <p:sp>
        <p:nvSpPr>
          <p:cNvPr id="17" name="stage-2-body">
            <a:extLst xmlns:a="http://schemas.openxmlformats.org/drawingml/2006/main">
              <a:ext uri="{FF2B5EF4-FFF2-40B4-BE49-F238E27FC236}">
                <a16:creationId xmlns:a16="http://schemas.microsoft.com/office/drawing/2014/main" id="{B05B8901-8D99-4008-9578-5198BE8F0A61}"/>
              </a:ext>
            </a:extLst>
          </p:cNvPr>
          <p:cNvSpPr>
            <a:spLocks xmlns:a="http://schemas.openxmlformats.org/drawingml/2006/main" noGrp="1"/>
          </p:cNvSpPr>
          <p:nvPr/>
        </p:nvSpPr>
        <p:spPr>
          <a:xfrm xmlns:a="http://schemas.openxmlformats.org/drawingml/2006/main">
            <a:off x="5086350" y="4219575"/>
            <a:ext cx="1962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Read facts with</a:t>
            </a:r>
          </a:p>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conversation evidence.</a:t>
            </a:r>
          </a:p>
        </p:txBody>
      </p:sp>
      <p:sp>
        <p:nvSpPr>
          <p:cNvPr id="18" name="stage-2-rule">
            <a:extLst xmlns:a="http://schemas.openxmlformats.org/drawingml/2006/main">
              <a:ext uri="{FF2B5EF4-FFF2-40B4-BE49-F238E27FC236}">
                <a16:creationId xmlns:a16="http://schemas.microsoft.com/office/drawing/2014/main" id="{39E06DD8-F109-49E7-9A25-2579484D4B64}"/>
              </a:ext>
            </a:extLst>
          </p:cNvPr>
          <p:cNvSpPr>
            <a:spLocks xmlns:a="http://schemas.openxmlformats.org/drawingml/2006/main" noGrp="1"/>
          </p:cNvSpPr>
          <p:nvPr/>
        </p:nvSpPr>
        <p:spPr>
          <a:xfrm xmlns:a="http://schemas.openxmlformats.org/drawingml/2006/main">
            <a:off x="6800850" y="3057525"/>
            <a:ext cx="371475" cy="19050"/>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19" name="stage-3-num">
            <a:extLst xmlns:a="http://schemas.openxmlformats.org/drawingml/2006/main">
              <a:ext uri="{FF2B5EF4-FFF2-40B4-BE49-F238E27FC236}">
                <a16:creationId xmlns:a16="http://schemas.microsoft.com/office/drawing/2014/main" id="{D2E53291-7420-465D-8A47-D7AF572E0C3D}"/>
              </a:ext>
            </a:extLst>
          </p:cNvPr>
          <p:cNvSpPr>
            <a:spLocks xmlns:a="http://schemas.openxmlformats.org/drawingml/2006/main" noGrp="1"/>
          </p:cNvSpPr>
          <p:nvPr/>
        </p:nvSpPr>
        <p:spPr>
          <a:xfrm xmlns:a="http://schemas.openxmlformats.org/drawingml/2006/main">
            <a:off x="7324725" y="2676525"/>
            <a:ext cx="161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425" b="1">
                <a:solidFill>
                  <a:srgbClr val="0F7964"/>
                </a:solidFill>
                <a:latin typeface="Aptos"/>
                <a:ea typeface="Aptos"/>
                <a:cs typeface="Aptos"/>
              </a:defRPr>
            </a:pPr>
            <a:r>
              <a:rPr sz="4425" b="1">
                <a:solidFill>
                  <a:srgbClr val="0F7964"/>
                </a:solidFill>
                <a:latin typeface="Aptos"/>
                <a:ea typeface="Aptos"/>
                <a:cs typeface="Aptos"/>
              </a:rPr>
              <a:t>04</a:t>
            </a:r>
          </a:p>
        </p:txBody>
      </p:sp>
      <p:sp>
        <p:nvSpPr>
          <p:cNvPr id="20" name="stage-3-head">
            <a:extLst xmlns:a="http://schemas.openxmlformats.org/drawingml/2006/main">
              <a:ext uri="{FF2B5EF4-FFF2-40B4-BE49-F238E27FC236}">
                <a16:creationId xmlns:a16="http://schemas.microsoft.com/office/drawing/2014/main" id="{9FECCF06-DFAB-4C09-9E5E-E8910625D572}"/>
              </a:ext>
            </a:extLst>
          </p:cNvPr>
          <p:cNvSpPr>
            <a:spLocks xmlns:a="http://schemas.openxmlformats.org/drawingml/2006/main" noGrp="1"/>
          </p:cNvSpPr>
          <p:nvPr/>
        </p:nvSpPr>
        <p:spPr>
          <a:xfrm xmlns:a="http://schemas.openxmlformats.org/drawingml/2006/main">
            <a:off x="7324725" y="3667125"/>
            <a:ext cx="1943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Review</a:t>
            </a:r>
          </a:p>
        </p:txBody>
      </p:sp>
      <p:sp>
        <p:nvSpPr>
          <p:cNvPr id="21" name="stage-3-body">
            <a:extLst xmlns:a="http://schemas.openxmlformats.org/drawingml/2006/main">
              <a:ext uri="{FF2B5EF4-FFF2-40B4-BE49-F238E27FC236}">
                <a16:creationId xmlns:a16="http://schemas.microsoft.com/office/drawing/2014/main" id="{9E3CC119-B09B-45F7-8898-EB33B11793E7}"/>
              </a:ext>
            </a:extLst>
          </p:cNvPr>
          <p:cNvSpPr>
            <a:spLocks xmlns:a="http://schemas.openxmlformats.org/drawingml/2006/main" noGrp="1"/>
          </p:cNvSpPr>
          <p:nvPr/>
        </p:nvSpPr>
        <p:spPr>
          <a:xfrm xmlns:a="http://schemas.openxmlformats.org/drawingml/2006/main">
            <a:off x="7324725" y="4219575"/>
            <a:ext cx="1962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Check policy and</a:t>
            </a:r>
          </a:p>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approval authority.</a:t>
            </a:r>
          </a:p>
        </p:txBody>
      </p:sp>
      <p:sp>
        <p:nvSpPr>
          <p:cNvPr id="22" name="stage-3-rule">
            <a:extLst xmlns:a="http://schemas.openxmlformats.org/drawingml/2006/main">
              <a:ext uri="{FF2B5EF4-FFF2-40B4-BE49-F238E27FC236}">
                <a16:creationId xmlns:a16="http://schemas.microsoft.com/office/drawing/2014/main" id="{27A88F28-441B-42B2-BB65-BB422A561BD6}"/>
              </a:ext>
            </a:extLst>
          </p:cNvPr>
          <p:cNvSpPr>
            <a:spLocks xmlns:a="http://schemas.openxmlformats.org/drawingml/2006/main" noGrp="1"/>
          </p:cNvSpPr>
          <p:nvPr/>
        </p:nvSpPr>
        <p:spPr>
          <a:xfrm xmlns:a="http://schemas.openxmlformats.org/drawingml/2006/main">
            <a:off x="9039225" y="3057525"/>
            <a:ext cx="371475" cy="19050"/>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23" name="stage-4-num">
            <a:extLst xmlns:a="http://schemas.openxmlformats.org/drawingml/2006/main">
              <a:ext uri="{FF2B5EF4-FFF2-40B4-BE49-F238E27FC236}">
                <a16:creationId xmlns:a16="http://schemas.microsoft.com/office/drawing/2014/main" id="{4F15BEE6-6948-462D-9190-1D6F6F746578}"/>
              </a:ext>
            </a:extLst>
          </p:cNvPr>
          <p:cNvSpPr>
            <a:spLocks xmlns:a="http://schemas.openxmlformats.org/drawingml/2006/main" noGrp="1"/>
          </p:cNvSpPr>
          <p:nvPr/>
        </p:nvSpPr>
        <p:spPr>
          <a:xfrm xmlns:a="http://schemas.openxmlformats.org/drawingml/2006/main">
            <a:off x="9563100" y="2676525"/>
            <a:ext cx="161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425" b="1">
                <a:solidFill>
                  <a:srgbClr val="0F7964"/>
                </a:solidFill>
                <a:latin typeface="Aptos"/>
                <a:ea typeface="Aptos"/>
                <a:cs typeface="Aptos"/>
              </a:defRPr>
            </a:pPr>
            <a:r>
              <a:rPr sz="4425" b="1">
                <a:solidFill>
                  <a:srgbClr val="0F7964"/>
                </a:solidFill>
                <a:latin typeface="Aptos"/>
                <a:ea typeface="Aptos"/>
                <a:cs typeface="Aptos"/>
              </a:rPr>
              <a:t>05</a:t>
            </a:r>
          </a:p>
        </p:txBody>
      </p:sp>
      <p:sp>
        <p:nvSpPr>
          <p:cNvPr id="24" name="stage-4-head">
            <a:extLst xmlns:a="http://schemas.openxmlformats.org/drawingml/2006/main">
              <a:ext uri="{FF2B5EF4-FFF2-40B4-BE49-F238E27FC236}">
                <a16:creationId xmlns:a16="http://schemas.microsoft.com/office/drawing/2014/main" id="{CD83942E-0F96-4008-AF97-907E0BDFF6DB}"/>
              </a:ext>
            </a:extLst>
          </p:cNvPr>
          <p:cNvSpPr>
            <a:spLocks xmlns:a="http://schemas.openxmlformats.org/drawingml/2006/main" noGrp="1"/>
          </p:cNvSpPr>
          <p:nvPr/>
        </p:nvSpPr>
        <p:spPr>
          <a:xfrm xmlns:a="http://schemas.openxmlformats.org/drawingml/2006/main">
            <a:off x="9563100" y="3667125"/>
            <a:ext cx="1943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Follow up</a:t>
            </a:r>
          </a:p>
        </p:txBody>
      </p:sp>
      <p:sp>
        <p:nvSpPr>
          <p:cNvPr id="25" name="stage-4-body">
            <a:extLst xmlns:a="http://schemas.openxmlformats.org/drawingml/2006/main">
              <a:ext uri="{FF2B5EF4-FFF2-40B4-BE49-F238E27FC236}">
                <a16:creationId xmlns:a16="http://schemas.microsoft.com/office/drawing/2014/main" id="{5E262C82-01DD-4889-8EF8-F6A2E8F26B6C}"/>
              </a:ext>
            </a:extLst>
          </p:cNvPr>
          <p:cNvSpPr>
            <a:spLocks xmlns:a="http://schemas.openxmlformats.org/drawingml/2006/main" noGrp="1"/>
          </p:cNvSpPr>
          <p:nvPr/>
        </p:nvSpPr>
        <p:spPr>
          <a:xfrm xmlns:a="http://schemas.openxmlformats.org/drawingml/2006/main">
            <a:off x="9563100" y="4219575"/>
            <a:ext cx="19621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Record outcome</a:t>
            </a:r>
          </a:p>
          <a:p xmlns:a="http://schemas.openxmlformats.org/drawingml/2006/main">
            <a:pPr algn="l">
              <a:lnSpc>
                <a:spcPct val="108000"/>
              </a:lnSpc>
              <a:buNone/>
              <a:defRPr sz="1725" b="0">
                <a:solidFill>
                  <a:srgbClr val="537269"/>
                </a:solidFill>
                <a:latin typeface="Aptos"/>
                <a:ea typeface="Aptos"/>
                <a:cs typeface="Aptos"/>
              </a:defRPr>
            </a:pPr>
            <a:r>
              <a:rPr sz="1725" b="0">
                <a:solidFill>
                  <a:srgbClr val="537269"/>
                </a:solidFill>
                <a:latin typeface="Aptos"/>
                <a:ea typeface="Aptos"/>
                <a:cs typeface="Aptos"/>
              </a:rPr>
              <a:t>and update context.</a:t>
            </a:r>
          </a:p>
        </p:txBody>
      </p:sp>
      <p:sp>
        <p:nvSpPr>
          <p:cNvPr id="26" name="lifecycle-note-bg">
            <a:extLst xmlns:a="http://schemas.openxmlformats.org/drawingml/2006/main">
              <a:ext uri="{FF2B5EF4-FFF2-40B4-BE49-F238E27FC236}">
                <a16:creationId xmlns:a16="http://schemas.microsoft.com/office/drawing/2014/main" id="{44845463-8410-4D53-ACD1-A34326E4676F}"/>
              </a:ext>
            </a:extLst>
          </p:cNvPr>
          <p:cNvSpPr>
            <a:spLocks xmlns:a="http://schemas.openxmlformats.org/drawingml/2006/main" noGrp="1"/>
          </p:cNvSpPr>
          <p:nvPr/>
        </p:nvSpPr>
        <p:spPr>
          <a:xfrm xmlns:a="http://schemas.openxmlformats.org/drawingml/2006/main">
            <a:off x="609600" y="5476875"/>
            <a:ext cx="10972800" cy="609600"/>
          </a:xfrm>
          <a:prstGeom xmlns:a="http://schemas.openxmlformats.org/drawingml/2006/main" prst="roundRect">
            <a:avLst>
              <a:gd name="adj" fmla="val 12500"/>
            </a:avLst>
          </a:prstGeom>
          <a:solidFill xmlns:a="http://schemas.openxmlformats.org/drawingml/2006/main">
            <a:srgbClr val="DDEEE4"/>
          </a:solidFill>
          <a:ln xmlns:a="http://schemas.openxmlformats.org/drawingml/2006/main" w="0">
            <a:noFill/>
            <a:prstDash val="solid"/>
          </a:ln>
        </p:spPr>
      </p:sp>
      <p:sp>
        <p:nvSpPr>
          <p:cNvPr id="27" name="lifecycle-note">
            <a:extLst xmlns:a="http://schemas.openxmlformats.org/drawingml/2006/main">
              <a:ext uri="{FF2B5EF4-FFF2-40B4-BE49-F238E27FC236}">
                <a16:creationId xmlns:a16="http://schemas.microsoft.com/office/drawing/2014/main" id="{BDC23897-E7D7-47E8-A2FD-753BD5C49B7A}"/>
              </a:ext>
            </a:extLst>
          </p:cNvPr>
          <p:cNvSpPr>
            <a:spLocks xmlns:a="http://schemas.openxmlformats.org/drawingml/2006/main" noGrp="1"/>
          </p:cNvSpPr>
          <p:nvPr/>
        </p:nvSpPr>
        <p:spPr>
          <a:xfrm xmlns:a="http://schemas.openxmlformats.org/drawingml/2006/main">
            <a:off x="809625" y="5638800"/>
            <a:ext cx="10544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143D35"/>
                </a:solidFill>
                <a:latin typeface="Aptos"/>
                <a:ea typeface="Aptos"/>
                <a:cs typeface="Aptos"/>
              </a:defRPr>
            </a:pPr>
            <a:r>
              <a:rPr sz="1725" b="0">
                <a:solidFill>
                  <a:srgbClr val="143D35"/>
                </a:solidFill>
                <a:latin typeface="Aptos"/>
                <a:ea typeface="Aptos"/>
                <a:cs typeface="Aptos"/>
              </a:rPr>
              <a:t>Public changes stay in one visit. Staff onboarding, source sync and cases persist locally.</a:t>
            </a:r>
          </a:p>
        </p:txBody>
      </p:sp>
    </p:spTree>
    <p:extLst>
      <p:ext uri="{BB962C8B-B14F-4D97-AF65-F5344CB8AC3E}">
        <p14:creationId xmlns:p14="http://schemas.microsoft.com/office/powerpoint/2010/main" val="1796776614"/>
      </p:ext>
    </p:extLst>
  </p:cSld>
</p:sld>
</file>

<file path=ppt/slides/slide4.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39" name="s4-eyebrow">
            <a:extLst xmlns:a="http://schemas.openxmlformats.org/drawingml/2006/main">
              <a:ext uri="{FF2B5EF4-FFF2-40B4-BE49-F238E27FC236}">
                <a16:creationId xmlns:a16="http://schemas.microsoft.com/office/drawing/2014/main" id="{3AD83D5A-99E1-48DD-B84F-C898964F041B}"/>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F7964"/>
                </a:solidFill>
                <a:latin typeface="Aptos"/>
                <a:ea typeface="Aptos"/>
                <a:cs typeface="Aptos"/>
              </a:defRPr>
            </a:pPr>
            <a:r>
              <a:rPr sz="1200" b="1">
                <a:solidFill>
                  <a:srgbClr val="0F7964"/>
                </a:solidFill>
                <a:latin typeface="Aptos"/>
                <a:ea typeface="Aptos"/>
                <a:cs typeface="Aptos"/>
              </a:rPr>
              <a:t>SAMVAAD360 / LENDING</a:t>
            </a:r>
          </a:p>
        </p:txBody>
      </p:sp>
      <p:sp>
        <p:nvSpPr>
          <p:cNvPr id="2" name="s4-title">
            <a:extLst xmlns:a="http://schemas.openxmlformats.org/drawingml/2006/main">
              <a:ext uri="{FF2B5EF4-FFF2-40B4-BE49-F238E27FC236}">
                <a16:creationId xmlns:a16="http://schemas.microsoft.com/office/drawing/2014/main" id="{AA1B11C5-7F8C-4834-8A43-3EDD441BC756}"/>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43D35"/>
                </a:solidFill>
                <a:latin typeface="Aptos"/>
                <a:ea typeface="Aptos"/>
                <a:cs typeface="Aptos"/>
              </a:defRPr>
            </a:pPr>
            <a:r>
              <a:rPr sz="3600" b="1">
                <a:solidFill>
                  <a:srgbClr val="143D35"/>
                </a:solidFill>
                <a:latin typeface="Aptos"/>
                <a:ea typeface="Aptos"/>
                <a:cs typeface="Aptos"/>
              </a:rPr>
              <a:t>The live demo has explicit data boundaries.</a:t>
            </a:r>
          </a:p>
        </p:txBody>
      </p:sp>
      <p:sp>
        <p:nvSpPr>
          <p:cNvPr id="3" name="s4-footer-rule">
            <a:extLst xmlns:a="http://schemas.openxmlformats.org/drawingml/2006/main">
              <a:ext uri="{FF2B5EF4-FFF2-40B4-BE49-F238E27FC236}">
                <a16:creationId xmlns:a16="http://schemas.microsoft.com/office/drawing/2014/main" id="{45BE8589-E015-4DB1-8221-695977028DBB}"/>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4" name="s4-footer">
            <a:extLst xmlns:a="http://schemas.openxmlformats.org/drawingml/2006/main">
              <a:ext uri="{FF2B5EF4-FFF2-40B4-BE49-F238E27FC236}">
                <a16:creationId xmlns:a16="http://schemas.microsoft.com/office/drawing/2014/main" id="{F1C19001-EC10-4D4A-BB9A-40EC240C9116}"/>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537269"/>
                </a:solidFill>
                <a:latin typeface="Aptos"/>
                <a:ea typeface="Aptos"/>
                <a:cs typeface="Aptos"/>
              </a:defRPr>
            </a:pPr>
            <a:r>
              <a:rPr sz="1125" b="0">
                <a:solidFill>
                  <a:srgbClr val="537269"/>
                </a:solidFill>
                <a:latin typeface="Aptos"/>
                <a:ea typeface="Aptos"/>
                <a:cs typeface="Aptos"/>
              </a:rPr>
              <a:t>Samvaad360 · Customer 360 + Next Best Action · Synthetic lending prototype</a:t>
            </a:r>
          </a:p>
        </p:txBody>
      </p:sp>
      <p:sp>
        <p:nvSpPr>
          <p:cNvPr id="5" name="s4-number">
            <a:extLst xmlns:a="http://schemas.openxmlformats.org/drawingml/2006/main">
              <a:ext uri="{FF2B5EF4-FFF2-40B4-BE49-F238E27FC236}">
                <a16:creationId xmlns:a16="http://schemas.microsoft.com/office/drawing/2014/main" id="{4939A7DF-C472-407A-BDD1-EFE5D00D9316}"/>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537269"/>
                </a:solidFill>
                <a:latin typeface="Aptos"/>
                <a:ea typeface="Aptos"/>
                <a:cs typeface="Aptos"/>
              </a:defRPr>
            </a:pPr>
            <a:r>
              <a:rPr sz="1275" b="0">
                <a:solidFill>
                  <a:srgbClr val="537269"/>
                </a:solidFill>
                <a:latin typeface="Aptos"/>
                <a:ea typeface="Aptos"/>
                <a:cs typeface="Aptos"/>
              </a:rPr>
              <a:t>04</a:t>
            </a:r>
          </a:p>
        </p:txBody>
      </p:sp>
      <p:sp>
        <p:nvSpPr>
          <p:cNvPr id="6" name="arch-public-label">
            <a:extLst xmlns:a="http://schemas.openxmlformats.org/drawingml/2006/main">
              <a:ext uri="{FF2B5EF4-FFF2-40B4-BE49-F238E27FC236}">
                <a16:creationId xmlns:a16="http://schemas.microsoft.com/office/drawing/2014/main" id="{1597C02B-B1F5-4734-8B85-C4F95E9CE8B9}"/>
              </a:ext>
            </a:extLst>
          </p:cNvPr>
          <p:cNvSpPr>
            <a:spLocks xmlns:a="http://schemas.openxmlformats.org/drawingml/2006/main" noGrp="1"/>
          </p:cNvSpPr>
          <p:nvPr/>
        </p:nvSpPr>
        <p:spPr>
          <a:xfrm xmlns:a="http://schemas.openxmlformats.org/drawingml/2006/main">
            <a:off x="609600" y="202882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F7964"/>
                </a:solidFill>
                <a:latin typeface="Aptos"/>
                <a:ea typeface="Aptos"/>
                <a:cs typeface="Aptos"/>
              </a:defRPr>
            </a:pPr>
            <a:r>
              <a:rPr sz="1350" b="1">
                <a:solidFill>
                  <a:srgbClr val="0F7964"/>
                </a:solidFill>
                <a:latin typeface="Aptos"/>
                <a:ea typeface="Aptos"/>
                <a:cs typeface="Aptos"/>
              </a:rPr>
              <a:t>LIVE PUBLIC DEMO</a:t>
            </a:r>
          </a:p>
        </p:txBody>
      </p:sp>
      <p:sp>
        <p:nvSpPr>
          <p:cNvPr id="7" name="arch-private-label">
            <a:extLst xmlns:a="http://schemas.openxmlformats.org/drawingml/2006/main">
              <a:ext uri="{FF2B5EF4-FFF2-40B4-BE49-F238E27FC236}">
                <a16:creationId xmlns:a16="http://schemas.microsoft.com/office/drawing/2014/main" id="{C2568B29-41DE-4649-89D7-12862143E83F}"/>
              </a:ext>
            </a:extLst>
          </p:cNvPr>
          <p:cNvSpPr>
            <a:spLocks xmlns:a="http://schemas.openxmlformats.org/drawingml/2006/main" noGrp="1"/>
          </p:cNvSpPr>
          <p:nvPr/>
        </p:nvSpPr>
        <p:spPr>
          <a:xfrm xmlns:a="http://schemas.openxmlformats.org/drawingml/2006/main">
            <a:off x="609600" y="385762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F7964"/>
                </a:solidFill>
                <a:latin typeface="Aptos"/>
                <a:ea typeface="Aptos"/>
                <a:cs typeface="Aptos"/>
              </a:defRPr>
            </a:pPr>
            <a:r>
              <a:rPr sz="1350" b="1">
                <a:solidFill>
                  <a:srgbClr val="0F7964"/>
                </a:solidFill>
                <a:latin typeface="Aptos"/>
                <a:ea typeface="Aptos"/>
                <a:cs typeface="Aptos"/>
              </a:rPr>
              <a:t>PERSISTENT STAFF + BORROWER PORTAL</a:t>
            </a:r>
          </a:p>
        </p:txBody>
      </p:sp>
      <p:sp>
        <p:nvSpPr>
          <p:cNvPr id="8" name="arch-edge-276-0">
            <a:extLst xmlns:a="http://schemas.openxmlformats.org/drawingml/2006/main">
              <a:ext uri="{FF2B5EF4-FFF2-40B4-BE49-F238E27FC236}">
                <a16:creationId xmlns:a16="http://schemas.microsoft.com/office/drawing/2014/main" id="{C583806F-BF04-4DDE-96B7-4C7E09861BDB}"/>
              </a:ext>
            </a:extLst>
          </p:cNvPr>
          <p:cNvSpPr>
            <a:spLocks xmlns:a="http://schemas.openxmlformats.org/drawingml/2006/main" noGrp="1"/>
          </p:cNvSpPr>
          <p:nvPr/>
        </p:nvSpPr>
        <p:spPr>
          <a:xfrm xmlns:a="http://schemas.openxmlformats.org/drawingml/2006/main">
            <a:off x="2943225" y="2952750"/>
            <a:ext cx="504825" cy="180975"/>
          </a:xfrm>
          <a:prstGeom xmlns:a="http://schemas.openxmlformats.org/drawingml/2006/main" prst="rightArrow">
            <a:avLst/>
          </a:prstGeom>
          <a:solidFill xmlns:a="http://schemas.openxmlformats.org/drawingml/2006/main">
            <a:srgbClr val="0F7964"/>
          </a:solidFill>
          <a:ln xmlns:a="http://schemas.openxmlformats.org/drawingml/2006/main" w="0">
            <a:noFill/>
          </a:ln>
        </p:spPr>
      </p:sp>
      <p:sp>
        <p:nvSpPr>
          <p:cNvPr id="9" name="arch-edge-276-1">
            <a:extLst xmlns:a="http://schemas.openxmlformats.org/drawingml/2006/main">
              <a:ext uri="{FF2B5EF4-FFF2-40B4-BE49-F238E27FC236}">
                <a16:creationId xmlns:a16="http://schemas.microsoft.com/office/drawing/2014/main" id="{91D52C70-2C18-4826-8582-C2B495C4B27C}"/>
              </a:ext>
            </a:extLst>
          </p:cNvPr>
          <p:cNvSpPr>
            <a:spLocks xmlns:a="http://schemas.openxmlformats.org/drawingml/2006/main" noGrp="1"/>
          </p:cNvSpPr>
          <p:nvPr/>
        </p:nvSpPr>
        <p:spPr>
          <a:xfrm xmlns:a="http://schemas.openxmlformats.org/drawingml/2006/main">
            <a:off x="5838825" y="2952750"/>
            <a:ext cx="504825" cy="180975"/>
          </a:xfrm>
          <a:prstGeom xmlns:a="http://schemas.openxmlformats.org/drawingml/2006/main" prst="rightArrow">
            <a:avLst/>
          </a:prstGeom>
          <a:solidFill xmlns:a="http://schemas.openxmlformats.org/drawingml/2006/main">
            <a:srgbClr val="0F7964"/>
          </a:solidFill>
          <a:ln xmlns:a="http://schemas.openxmlformats.org/drawingml/2006/main" w="0">
            <a:noFill/>
          </a:ln>
        </p:spPr>
      </p:sp>
      <p:sp>
        <p:nvSpPr>
          <p:cNvPr id="10" name="arch-edge-276-2">
            <a:extLst xmlns:a="http://schemas.openxmlformats.org/drawingml/2006/main">
              <a:ext uri="{FF2B5EF4-FFF2-40B4-BE49-F238E27FC236}">
                <a16:creationId xmlns:a16="http://schemas.microsoft.com/office/drawing/2014/main" id="{08790404-B44C-4DEF-A87F-557233512A65}"/>
              </a:ext>
            </a:extLst>
          </p:cNvPr>
          <p:cNvSpPr>
            <a:spLocks xmlns:a="http://schemas.openxmlformats.org/drawingml/2006/main" noGrp="1"/>
          </p:cNvSpPr>
          <p:nvPr/>
        </p:nvSpPr>
        <p:spPr>
          <a:xfrm xmlns:a="http://schemas.openxmlformats.org/drawingml/2006/main">
            <a:off x="8734425" y="2952750"/>
            <a:ext cx="504825" cy="180975"/>
          </a:xfrm>
          <a:prstGeom xmlns:a="http://schemas.openxmlformats.org/drawingml/2006/main" prst="rightArrow">
            <a:avLst/>
          </a:prstGeom>
          <a:solidFill xmlns:a="http://schemas.openxmlformats.org/drawingml/2006/main">
            <a:srgbClr val="0F7964"/>
          </a:solidFill>
          <a:ln xmlns:a="http://schemas.openxmlformats.org/drawingml/2006/main" w="0">
            <a:noFill/>
          </a:ln>
        </p:spPr>
      </p:sp>
      <p:sp>
        <p:nvSpPr>
          <p:cNvPr id="11" name="arch-edge-471-0">
            <a:extLst xmlns:a="http://schemas.openxmlformats.org/drawingml/2006/main">
              <a:ext uri="{FF2B5EF4-FFF2-40B4-BE49-F238E27FC236}">
                <a16:creationId xmlns:a16="http://schemas.microsoft.com/office/drawing/2014/main" id="{56AF4DDD-3F60-4B06-A594-AC29C1B159F6}"/>
              </a:ext>
            </a:extLst>
          </p:cNvPr>
          <p:cNvSpPr>
            <a:spLocks xmlns:a="http://schemas.openxmlformats.org/drawingml/2006/main" noGrp="1"/>
          </p:cNvSpPr>
          <p:nvPr/>
        </p:nvSpPr>
        <p:spPr>
          <a:xfrm xmlns:a="http://schemas.openxmlformats.org/drawingml/2006/main">
            <a:off x="2943225" y="4810125"/>
            <a:ext cx="504825" cy="180975"/>
          </a:xfrm>
          <a:prstGeom xmlns:a="http://schemas.openxmlformats.org/drawingml/2006/main" prst="rightArrow">
            <a:avLst/>
          </a:prstGeom>
          <a:solidFill xmlns:a="http://schemas.openxmlformats.org/drawingml/2006/main">
            <a:srgbClr val="0F7964"/>
          </a:solidFill>
          <a:ln xmlns:a="http://schemas.openxmlformats.org/drawingml/2006/main" w="0">
            <a:noFill/>
          </a:ln>
        </p:spPr>
      </p:sp>
      <p:sp>
        <p:nvSpPr>
          <p:cNvPr id="12" name="arch-edge-471-1">
            <a:extLst xmlns:a="http://schemas.openxmlformats.org/drawingml/2006/main">
              <a:ext uri="{FF2B5EF4-FFF2-40B4-BE49-F238E27FC236}">
                <a16:creationId xmlns:a16="http://schemas.microsoft.com/office/drawing/2014/main" id="{4AB83548-470E-4935-8291-A49CF79E253E}"/>
              </a:ext>
            </a:extLst>
          </p:cNvPr>
          <p:cNvSpPr>
            <a:spLocks xmlns:a="http://schemas.openxmlformats.org/drawingml/2006/main" noGrp="1"/>
          </p:cNvSpPr>
          <p:nvPr/>
        </p:nvSpPr>
        <p:spPr>
          <a:xfrm xmlns:a="http://schemas.openxmlformats.org/drawingml/2006/main">
            <a:off x="5838825" y="4810125"/>
            <a:ext cx="504825" cy="180975"/>
          </a:xfrm>
          <a:prstGeom xmlns:a="http://schemas.openxmlformats.org/drawingml/2006/main" prst="rightArrow">
            <a:avLst/>
          </a:prstGeom>
          <a:solidFill xmlns:a="http://schemas.openxmlformats.org/drawingml/2006/main">
            <a:srgbClr val="0F7964"/>
          </a:solidFill>
          <a:ln xmlns:a="http://schemas.openxmlformats.org/drawingml/2006/main" w="0">
            <a:noFill/>
          </a:ln>
        </p:spPr>
      </p:sp>
      <p:sp>
        <p:nvSpPr>
          <p:cNvPr id="13" name="arch-edge-471-2">
            <a:extLst xmlns:a="http://schemas.openxmlformats.org/drawingml/2006/main">
              <a:ext uri="{FF2B5EF4-FFF2-40B4-BE49-F238E27FC236}">
                <a16:creationId xmlns:a16="http://schemas.microsoft.com/office/drawing/2014/main" id="{1863E269-BFF5-4E59-A2FF-B4BB8C504ADE}"/>
              </a:ext>
            </a:extLst>
          </p:cNvPr>
          <p:cNvSpPr>
            <a:spLocks xmlns:a="http://schemas.openxmlformats.org/drawingml/2006/main" noGrp="1"/>
          </p:cNvSpPr>
          <p:nvPr/>
        </p:nvSpPr>
        <p:spPr>
          <a:xfrm xmlns:a="http://schemas.openxmlformats.org/drawingml/2006/main">
            <a:off x="8734425" y="4810125"/>
            <a:ext cx="504825" cy="180975"/>
          </a:xfrm>
          <a:prstGeom xmlns:a="http://schemas.openxmlformats.org/drawingml/2006/main" prst="rightArrow">
            <a:avLst/>
          </a:prstGeom>
          <a:solidFill xmlns:a="http://schemas.openxmlformats.org/drawingml/2006/main">
            <a:srgbClr val="0F7964"/>
          </a:solidFill>
          <a:ln xmlns:a="http://schemas.openxmlformats.org/drawingml/2006/main" w="0">
            <a:noFill/>
          </a:ln>
        </p:spPr>
      </p:sp>
      <p:sp>
        <p:nvSpPr>
          <p:cNvPr id="14" name="node-263-0">
            <a:extLst xmlns:a="http://schemas.openxmlformats.org/drawingml/2006/main">
              <a:ext uri="{FF2B5EF4-FFF2-40B4-BE49-F238E27FC236}">
                <a16:creationId xmlns:a16="http://schemas.microsoft.com/office/drawing/2014/main" id="{92509E7B-6C03-41BF-B78C-940B7A66E7CF}"/>
              </a:ext>
            </a:extLst>
          </p:cNvPr>
          <p:cNvSpPr>
            <a:spLocks xmlns:a="http://schemas.openxmlformats.org/drawingml/2006/main" noGrp="1"/>
          </p:cNvSpPr>
          <p:nvPr/>
        </p:nvSpPr>
        <p:spPr>
          <a:xfrm xmlns:a="http://schemas.openxmlformats.org/drawingml/2006/main">
            <a:off x="609600" y="2505075"/>
            <a:ext cx="22860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CDDBD4"/>
            </a:solidFill>
            <a:prstDash val="solid"/>
          </a:ln>
        </p:spPr>
      </p:sp>
      <p:sp>
        <p:nvSpPr>
          <p:cNvPr id="15" name="node-263-0-title">
            <a:extLst xmlns:a="http://schemas.openxmlformats.org/drawingml/2006/main">
              <a:ext uri="{FF2B5EF4-FFF2-40B4-BE49-F238E27FC236}">
                <a16:creationId xmlns:a16="http://schemas.microsoft.com/office/drawing/2014/main" id="{AF837620-2228-4FA6-91DF-BD1571434C23}"/>
              </a:ext>
            </a:extLst>
          </p:cNvPr>
          <p:cNvSpPr>
            <a:spLocks xmlns:a="http://schemas.openxmlformats.org/drawingml/2006/main" noGrp="1"/>
          </p:cNvSpPr>
          <p:nvPr/>
        </p:nvSpPr>
        <p:spPr>
          <a:xfrm xmlns:a="http://schemas.openxmlformats.org/drawingml/2006/main">
            <a:off x="771525" y="2714625"/>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Browser</a:t>
            </a:r>
          </a:p>
        </p:txBody>
      </p:sp>
      <p:sp>
        <p:nvSpPr>
          <p:cNvPr id="16" name="node-263-0-desc">
            <a:extLst xmlns:a="http://schemas.openxmlformats.org/drawingml/2006/main">
              <a:ext uri="{FF2B5EF4-FFF2-40B4-BE49-F238E27FC236}">
                <a16:creationId xmlns:a16="http://schemas.microsoft.com/office/drawing/2014/main" id="{D1FDA399-9071-4863-809B-EFCBFBA7FD77}"/>
              </a:ext>
            </a:extLst>
          </p:cNvPr>
          <p:cNvSpPr>
            <a:spLocks xmlns:a="http://schemas.openxmlformats.org/drawingml/2006/main" noGrp="1"/>
          </p:cNvSpPr>
          <p:nvPr/>
        </p:nvSpPr>
        <p:spPr>
          <a:xfrm xmlns:a="http://schemas.openxmlformats.org/drawingml/2006/main">
            <a:off x="771525" y="3181350"/>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537269"/>
                </a:solidFill>
                <a:latin typeface="Aptos"/>
                <a:ea typeface="Aptos"/>
                <a:cs typeface="Aptos"/>
              </a:defRPr>
            </a:pPr>
            <a:r>
              <a:rPr sz="1650" b="0">
                <a:solidFill>
                  <a:srgbClr val="537269"/>
                </a:solidFill>
                <a:latin typeface="Aptos"/>
                <a:ea typeface="Aptos"/>
                <a:cs typeface="Aptos"/>
              </a:rPr>
              <a:t>Six guided workspaces</a:t>
            </a:r>
          </a:p>
        </p:txBody>
      </p:sp>
      <p:sp>
        <p:nvSpPr>
          <p:cNvPr id="17" name="node-458-0">
            <a:extLst xmlns:a="http://schemas.openxmlformats.org/drawingml/2006/main">
              <a:ext uri="{FF2B5EF4-FFF2-40B4-BE49-F238E27FC236}">
                <a16:creationId xmlns:a16="http://schemas.microsoft.com/office/drawing/2014/main" id="{64315849-098A-4FDE-BE95-410EDBC10365}"/>
              </a:ext>
            </a:extLst>
          </p:cNvPr>
          <p:cNvSpPr>
            <a:spLocks xmlns:a="http://schemas.openxmlformats.org/drawingml/2006/main" noGrp="1"/>
          </p:cNvSpPr>
          <p:nvPr/>
        </p:nvSpPr>
        <p:spPr>
          <a:xfrm xmlns:a="http://schemas.openxmlformats.org/drawingml/2006/main">
            <a:off x="609600" y="4362450"/>
            <a:ext cx="22860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CDDBD4"/>
            </a:solidFill>
            <a:prstDash val="solid"/>
          </a:ln>
        </p:spPr>
      </p:sp>
      <p:sp>
        <p:nvSpPr>
          <p:cNvPr id="18" name="node-458-0-title">
            <a:extLst xmlns:a="http://schemas.openxmlformats.org/drawingml/2006/main">
              <a:ext uri="{FF2B5EF4-FFF2-40B4-BE49-F238E27FC236}">
                <a16:creationId xmlns:a16="http://schemas.microsoft.com/office/drawing/2014/main" id="{FFD90695-D67C-444A-8D04-DC74999EB10B}"/>
              </a:ext>
            </a:extLst>
          </p:cNvPr>
          <p:cNvSpPr>
            <a:spLocks xmlns:a="http://schemas.openxmlformats.org/drawingml/2006/main" noGrp="1"/>
          </p:cNvSpPr>
          <p:nvPr/>
        </p:nvSpPr>
        <p:spPr>
          <a:xfrm xmlns:a="http://schemas.openxmlformats.org/drawingml/2006/main">
            <a:off x="771525" y="4572000"/>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Staff portal</a:t>
            </a:r>
          </a:p>
        </p:txBody>
      </p:sp>
      <p:sp>
        <p:nvSpPr>
          <p:cNvPr id="19" name="node-458-0-desc">
            <a:extLst xmlns:a="http://schemas.openxmlformats.org/drawingml/2006/main">
              <a:ext uri="{FF2B5EF4-FFF2-40B4-BE49-F238E27FC236}">
                <a16:creationId xmlns:a16="http://schemas.microsoft.com/office/drawing/2014/main" id="{6AB85AF6-1BEC-4AE2-9799-23EB7E0BB504}"/>
              </a:ext>
            </a:extLst>
          </p:cNvPr>
          <p:cNvSpPr>
            <a:spLocks xmlns:a="http://schemas.openxmlformats.org/drawingml/2006/main" noGrp="1"/>
          </p:cNvSpPr>
          <p:nvPr/>
        </p:nvSpPr>
        <p:spPr>
          <a:xfrm xmlns:a="http://schemas.openxmlformats.org/drawingml/2006/main">
            <a:off x="771525" y="5038725"/>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537269"/>
                </a:solidFill>
                <a:latin typeface="Aptos"/>
                <a:ea typeface="Aptos"/>
                <a:cs typeface="Aptos"/>
              </a:defRPr>
            </a:pPr>
            <a:r>
              <a:rPr sz="1650" b="0">
                <a:solidFill>
                  <a:srgbClr val="537269"/>
                </a:solidFill>
                <a:latin typeface="Aptos"/>
                <a:ea typeface="Aptos"/>
                <a:cs typeface="Aptos"/>
              </a:rPr>
              <a:t>Applicant intake links</a:t>
            </a:r>
          </a:p>
        </p:txBody>
      </p:sp>
      <p:sp>
        <p:nvSpPr>
          <p:cNvPr id="20" name="node-263-1">
            <a:extLst xmlns:a="http://schemas.openxmlformats.org/drawingml/2006/main">
              <a:ext uri="{FF2B5EF4-FFF2-40B4-BE49-F238E27FC236}">
                <a16:creationId xmlns:a16="http://schemas.microsoft.com/office/drawing/2014/main" id="{F0A94642-FC88-4C5E-BDFE-FEDE34E83E7F}"/>
              </a:ext>
            </a:extLst>
          </p:cNvPr>
          <p:cNvSpPr>
            <a:spLocks xmlns:a="http://schemas.openxmlformats.org/drawingml/2006/main" noGrp="1"/>
          </p:cNvSpPr>
          <p:nvPr/>
        </p:nvSpPr>
        <p:spPr>
          <a:xfrm xmlns:a="http://schemas.openxmlformats.org/drawingml/2006/main">
            <a:off x="3505200" y="2505075"/>
            <a:ext cx="22860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CDDBD4"/>
            </a:solidFill>
            <a:prstDash val="solid"/>
          </a:ln>
        </p:spPr>
      </p:sp>
      <p:sp>
        <p:nvSpPr>
          <p:cNvPr id="21" name="node-263-1-title">
            <a:extLst xmlns:a="http://schemas.openxmlformats.org/drawingml/2006/main">
              <a:ext uri="{FF2B5EF4-FFF2-40B4-BE49-F238E27FC236}">
                <a16:creationId xmlns:a16="http://schemas.microsoft.com/office/drawing/2014/main" id="{FE24E70E-3A83-480C-8C53-475E1362A010}"/>
              </a:ext>
            </a:extLst>
          </p:cNvPr>
          <p:cNvSpPr>
            <a:spLocks xmlns:a="http://schemas.openxmlformats.org/drawingml/2006/main" noGrp="1"/>
          </p:cNvSpPr>
          <p:nvPr/>
        </p:nvSpPr>
        <p:spPr>
          <a:xfrm xmlns:a="http://schemas.openxmlformats.org/drawingml/2006/main">
            <a:off x="3667125" y="2714625"/>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Streamlit UI</a:t>
            </a:r>
          </a:p>
        </p:txBody>
      </p:sp>
      <p:sp>
        <p:nvSpPr>
          <p:cNvPr id="22" name="node-263-1-desc">
            <a:extLst xmlns:a="http://schemas.openxmlformats.org/drawingml/2006/main">
              <a:ext uri="{FF2B5EF4-FFF2-40B4-BE49-F238E27FC236}">
                <a16:creationId xmlns:a16="http://schemas.microsoft.com/office/drawing/2014/main" id="{05FD35EF-B9C2-4E77-8BE1-3A78F9EB5531}"/>
              </a:ext>
            </a:extLst>
          </p:cNvPr>
          <p:cNvSpPr>
            <a:spLocks xmlns:a="http://schemas.openxmlformats.org/drawingml/2006/main" noGrp="1"/>
          </p:cNvSpPr>
          <p:nvPr/>
        </p:nvSpPr>
        <p:spPr>
          <a:xfrm xmlns:a="http://schemas.openxmlformats.org/drawingml/2006/main">
            <a:off x="3667125" y="3181350"/>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537269"/>
                </a:solidFill>
                <a:latin typeface="Aptos"/>
                <a:ea typeface="Aptos"/>
                <a:cs typeface="Aptos"/>
              </a:defRPr>
            </a:pPr>
            <a:r>
              <a:rPr sz="1650" b="0">
                <a:solidFill>
                  <a:srgbClr val="537269"/>
                </a:solidFill>
                <a:latin typeface="Aptos"/>
                <a:ea typeface="Aptos"/>
                <a:cs typeface="Aptos"/>
              </a:rPr>
              <a:t>Python · fixed queries</a:t>
            </a:r>
          </a:p>
        </p:txBody>
      </p:sp>
      <p:sp>
        <p:nvSpPr>
          <p:cNvPr id="23" name="node-458-1">
            <a:extLst xmlns:a="http://schemas.openxmlformats.org/drawingml/2006/main">
              <a:ext uri="{FF2B5EF4-FFF2-40B4-BE49-F238E27FC236}">
                <a16:creationId xmlns:a16="http://schemas.microsoft.com/office/drawing/2014/main" id="{831814DE-8D57-40F9-883A-80CA4169FE14}"/>
              </a:ext>
            </a:extLst>
          </p:cNvPr>
          <p:cNvSpPr>
            <a:spLocks xmlns:a="http://schemas.openxmlformats.org/drawingml/2006/main" noGrp="1"/>
          </p:cNvSpPr>
          <p:nvPr/>
        </p:nvSpPr>
        <p:spPr>
          <a:xfrm xmlns:a="http://schemas.openxmlformats.org/drawingml/2006/main">
            <a:off x="3505200" y="4362450"/>
            <a:ext cx="22860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CDDBD4"/>
            </a:solidFill>
            <a:prstDash val="solid"/>
          </a:ln>
        </p:spPr>
      </p:sp>
      <p:sp>
        <p:nvSpPr>
          <p:cNvPr id="24" name="node-458-1-title">
            <a:extLst xmlns:a="http://schemas.openxmlformats.org/drawingml/2006/main">
              <a:ext uri="{FF2B5EF4-FFF2-40B4-BE49-F238E27FC236}">
                <a16:creationId xmlns:a16="http://schemas.microsoft.com/office/drawing/2014/main" id="{54DAE1E2-8CD7-44DE-B8C8-10168AC12A62}"/>
              </a:ext>
            </a:extLst>
          </p:cNvPr>
          <p:cNvSpPr>
            <a:spLocks xmlns:a="http://schemas.openxmlformats.org/drawingml/2006/main" noGrp="1"/>
          </p:cNvSpPr>
          <p:nvPr/>
        </p:nvSpPr>
        <p:spPr>
          <a:xfrm xmlns:a="http://schemas.openxmlformats.org/drawingml/2006/main">
            <a:off x="3667125" y="4572000"/>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API + SQLite</a:t>
            </a:r>
          </a:p>
        </p:txBody>
      </p:sp>
      <p:sp>
        <p:nvSpPr>
          <p:cNvPr id="25" name="node-458-1-desc">
            <a:extLst xmlns:a="http://schemas.openxmlformats.org/drawingml/2006/main">
              <a:ext uri="{FF2B5EF4-FFF2-40B4-BE49-F238E27FC236}">
                <a16:creationId xmlns:a16="http://schemas.microsoft.com/office/drawing/2014/main" id="{FB392A03-2835-4C04-859F-4B26EA16AD86}"/>
              </a:ext>
            </a:extLst>
          </p:cNvPr>
          <p:cNvSpPr>
            <a:spLocks xmlns:a="http://schemas.openxmlformats.org/drawingml/2006/main" noGrp="1"/>
          </p:cNvSpPr>
          <p:nvPr/>
        </p:nvSpPr>
        <p:spPr>
          <a:xfrm xmlns:a="http://schemas.openxmlformats.org/drawingml/2006/main">
            <a:off x="3667125" y="5038725"/>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537269"/>
                </a:solidFill>
                <a:latin typeface="Aptos"/>
                <a:ea typeface="Aptos"/>
                <a:cs typeface="Aptos"/>
              </a:defRPr>
            </a:pPr>
            <a:r>
              <a:rPr sz="1650" b="0">
                <a:solidFill>
                  <a:srgbClr val="537269"/>
                </a:solidFill>
                <a:latin typeface="Aptos"/>
                <a:ea typeface="Aptos"/>
                <a:cs typeface="Aptos"/>
              </a:rPr>
              <a:t>Reviewed intake + sync</a:t>
            </a:r>
          </a:p>
        </p:txBody>
      </p:sp>
      <p:sp>
        <p:nvSpPr>
          <p:cNvPr id="26" name="node-263-2">
            <a:extLst xmlns:a="http://schemas.openxmlformats.org/drawingml/2006/main">
              <a:ext uri="{FF2B5EF4-FFF2-40B4-BE49-F238E27FC236}">
                <a16:creationId xmlns:a16="http://schemas.microsoft.com/office/drawing/2014/main" id="{E0403444-6703-45DF-B044-8039304F3DAD}"/>
              </a:ext>
            </a:extLst>
          </p:cNvPr>
          <p:cNvSpPr>
            <a:spLocks xmlns:a="http://schemas.openxmlformats.org/drawingml/2006/main" noGrp="1"/>
          </p:cNvSpPr>
          <p:nvPr/>
        </p:nvSpPr>
        <p:spPr>
          <a:xfrm xmlns:a="http://schemas.openxmlformats.org/drawingml/2006/main">
            <a:off x="6400800" y="2505075"/>
            <a:ext cx="22860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CDDBD4"/>
            </a:solidFill>
            <a:prstDash val="solid"/>
          </a:ln>
        </p:spPr>
      </p:sp>
      <p:sp>
        <p:nvSpPr>
          <p:cNvPr id="27" name="node-263-2-title">
            <a:extLst xmlns:a="http://schemas.openxmlformats.org/drawingml/2006/main">
              <a:ext uri="{FF2B5EF4-FFF2-40B4-BE49-F238E27FC236}">
                <a16:creationId xmlns:a16="http://schemas.microsoft.com/office/drawing/2014/main" id="{6F5E41BD-0697-4A01-9FDD-FB54DC994B63}"/>
              </a:ext>
            </a:extLst>
          </p:cNvPr>
          <p:cNvSpPr>
            <a:spLocks xmlns:a="http://schemas.openxmlformats.org/drawingml/2006/main" noGrp="1"/>
          </p:cNvSpPr>
          <p:nvPr/>
        </p:nvSpPr>
        <p:spPr>
          <a:xfrm xmlns:a="http://schemas.openxmlformats.org/drawingml/2006/main">
            <a:off x="6562725" y="2714625"/>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Snapshot</a:t>
            </a:r>
          </a:p>
        </p:txBody>
      </p:sp>
      <p:sp>
        <p:nvSpPr>
          <p:cNvPr id="28" name="node-263-2-desc">
            <a:extLst xmlns:a="http://schemas.openxmlformats.org/drawingml/2006/main">
              <a:ext uri="{FF2B5EF4-FFF2-40B4-BE49-F238E27FC236}">
                <a16:creationId xmlns:a16="http://schemas.microsoft.com/office/drawing/2014/main" id="{39CBEED5-8352-4686-ABB5-8D6726DDC66B}"/>
              </a:ext>
            </a:extLst>
          </p:cNvPr>
          <p:cNvSpPr>
            <a:spLocks xmlns:a="http://schemas.openxmlformats.org/drawingml/2006/main" noGrp="1"/>
          </p:cNvSpPr>
          <p:nvPr/>
        </p:nvSpPr>
        <p:spPr>
          <a:xfrm xmlns:a="http://schemas.openxmlformats.org/drawingml/2006/main">
            <a:off x="6562725" y="3181350"/>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537269"/>
                </a:solidFill>
                <a:latin typeface="Aptos"/>
                <a:ea typeface="Aptos"/>
                <a:cs typeface="Aptos"/>
              </a:defRPr>
            </a:pPr>
            <a:r>
              <a:rPr sz="1650" b="0">
                <a:solidFill>
                  <a:srgbClr val="537269"/>
                </a:solidFill>
                <a:latin typeface="Aptos"/>
                <a:ea typeface="Aptos"/>
                <a:cs typeface="Aptos"/>
              </a:rPr>
              <a:t>Hourly reuse + limits</a:t>
            </a:r>
          </a:p>
        </p:txBody>
      </p:sp>
      <p:sp>
        <p:nvSpPr>
          <p:cNvPr id="29" name="node-458-2">
            <a:extLst xmlns:a="http://schemas.openxmlformats.org/drawingml/2006/main">
              <a:ext uri="{FF2B5EF4-FFF2-40B4-BE49-F238E27FC236}">
                <a16:creationId xmlns:a16="http://schemas.microsoft.com/office/drawing/2014/main" id="{79FA00CB-0436-4B1F-8F46-B60E68F860AE}"/>
              </a:ext>
            </a:extLst>
          </p:cNvPr>
          <p:cNvSpPr>
            <a:spLocks xmlns:a="http://schemas.openxmlformats.org/drawingml/2006/main" noGrp="1"/>
          </p:cNvSpPr>
          <p:nvPr/>
        </p:nvSpPr>
        <p:spPr>
          <a:xfrm xmlns:a="http://schemas.openxmlformats.org/drawingml/2006/main">
            <a:off x="6400800" y="4362450"/>
            <a:ext cx="22860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CDDBD4"/>
            </a:solidFill>
            <a:prstDash val="solid"/>
          </a:ln>
        </p:spPr>
      </p:sp>
      <p:sp>
        <p:nvSpPr>
          <p:cNvPr id="30" name="node-458-2-title">
            <a:extLst xmlns:a="http://schemas.openxmlformats.org/drawingml/2006/main">
              <a:ext uri="{FF2B5EF4-FFF2-40B4-BE49-F238E27FC236}">
                <a16:creationId xmlns:a16="http://schemas.microsoft.com/office/drawing/2014/main" id="{C7FE9BE6-52ED-4241-AA67-449D1B426135}"/>
              </a:ext>
            </a:extLst>
          </p:cNvPr>
          <p:cNvSpPr>
            <a:spLocks xmlns:a="http://schemas.openxmlformats.org/drawingml/2006/main" noGrp="1"/>
          </p:cNvSpPr>
          <p:nvPr/>
        </p:nvSpPr>
        <p:spPr>
          <a:xfrm xmlns:a="http://schemas.openxmlformats.org/drawingml/2006/main">
            <a:off x="6562725" y="4572000"/>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143D35"/>
                </a:solidFill>
                <a:latin typeface="Aptos"/>
                <a:ea typeface="Aptos"/>
                <a:cs typeface="Aptos"/>
              </a:defRPr>
            </a:pPr>
            <a:r>
              <a:rPr sz="2400" b="1">
                <a:solidFill>
                  <a:srgbClr val="143D35"/>
                </a:solidFill>
                <a:latin typeface="Aptos"/>
                <a:ea typeface="Aptos"/>
                <a:cs typeface="Aptos"/>
              </a:rPr>
              <a:t>Publisher</a:t>
            </a:r>
          </a:p>
        </p:txBody>
      </p:sp>
      <p:sp>
        <p:nvSpPr>
          <p:cNvPr id="31" name="node-458-2-desc">
            <a:extLst xmlns:a="http://schemas.openxmlformats.org/drawingml/2006/main">
              <a:ext uri="{FF2B5EF4-FFF2-40B4-BE49-F238E27FC236}">
                <a16:creationId xmlns:a16="http://schemas.microsoft.com/office/drawing/2014/main" id="{F88FB374-3641-496C-BF3A-3E5B302D8373}"/>
              </a:ext>
            </a:extLst>
          </p:cNvPr>
          <p:cNvSpPr>
            <a:spLocks xmlns:a="http://schemas.openxmlformats.org/drawingml/2006/main" noGrp="1"/>
          </p:cNvSpPr>
          <p:nvPr/>
        </p:nvSpPr>
        <p:spPr>
          <a:xfrm xmlns:a="http://schemas.openxmlformats.org/drawingml/2006/main">
            <a:off x="6562725" y="5038725"/>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537269"/>
                </a:solidFill>
                <a:latin typeface="Aptos"/>
                <a:ea typeface="Aptos"/>
                <a:cs typeface="Aptos"/>
              </a:defRPr>
            </a:pPr>
            <a:r>
              <a:rPr sz="1650" b="0">
                <a:solidFill>
                  <a:srgbClr val="537269"/>
                </a:solidFill>
                <a:latin typeface="Aptos"/>
                <a:ea typeface="Aptos"/>
                <a:cs typeface="Aptos"/>
              </a:rPr>
              <a:t>Activation pending</a:t>
            </a:r>
          </a:p>
        </p:txBody>
      </p:sp>
      <p:sp>
        <p:nvSpPr>
          <p:cNvPr id="32" name="node-263-3">
            <a:extLst xmlns:a="http://schemas.openxmlformats.org/drawingml/2006/main">
              <a:ext uri="{FF2B5EF4-FFF2-40B4-BE49-F238E27FC236}">
                <a16:creationId xmlns:a16="http://schemas.microsoft.com/office/drawing/2014/main" id="{7460E372-3F32-43A7-A5EE-16C212F86C98}"/>
              </a:ext>
            </a:extLst>
          </p:cNvPr>
          <p:cNvSpPr>
            <a:spLocks xmlns:a="http://schemas.openxmlformats.org/drawingml/2006/main" noGrp="1"/>
          </p:cNvSpPr>
          <p:nvPr/>
        </p:nvSpPr>
        <p:spPr>
          <a:xfrm xmlns:a="http://schemas.openxmlformats.org/drawingml/2006/main">
            <a:off x="9296400" y="2505075"/>
            <a:ext cx="2286000" cy="1143000"/>
          </a:xfrm>
          <a:prstGeom xmlns:a="http://schemas.openxmlformats.org/drawingml/2006/main" prst="roundRect">
            <a:avLst>
              <a:gd name="adj" fmla="val 8333"/>
            </a:avLst>
          </a:prstGeom>
          <a:solidFill xmlns:a="http://schemas.openxmlformats.org/drawingml/2006/main">
            <a:srgbClr val="143D35"/>
          </a:solidFill>
          <a:ln xmlns:a="http://schemas.openxmlformats.org/drawingml/2006/main" w="9525">
            <a:solidFill>
              <a:srgbClr val="CDDBD4"/>
            </a:solidFill>
            <a:prstDash val="solid"/>
          </a:ln>
        </p:spPr>
      </p:sp>
      <p:sp>
        <p:nvSpPr>
          <p:cNvPr id="33" name="node-263-3-title">
            <a:extLst xmlns:a="http://schemas.openxmlformats.org/drawingml/2006/main">
              <a:ext uri="{FF2B5EF4-FFF2-40B4-BE49-F238E27FC236}">
                <a16:creationId xmlns:a16="http://schemas.microsoft.com/office/drawing/2014/main" id="{0BA54E6A-D5B8-48F0-8601-FB4CF33649EA}"/>
              </a:ext>
            </a:extLst>
          </p:cNvPr>
          <p:cNvSpPr>
            <a:spLocks xmlns:a="http://schemas.openxmlformats.org/drawingml/2006/main" noGrp="1"/>
          </p:cNvSpPr>
          <p:nvPr/>
        </p:nvSpPr>
        <p:spPr>
          <a:xfrm xmlns:a="http://schemas.openxmlformats.org/drawingml/2006/main">
            <a:off x="9458325" y="2714625"/>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F5F7F3"/>
                </a:solidFill>
                <a:latin typeface="Aptos"/>
                <a:ea typeface="Aptos"/>
                <a:cs typeface="Aptos"/>
              </a:defRPr>
            </a:pPr>
            <a:r>
              <a:rPr sz="2400" b="1">
                <a:solidFill>
                  <a:srgbClr val="F5F7F3"/>
                </a:solidFill>
                <a:latin typeface="Aptos"/>
                <a:ea typeface="Aptos"/>
                <a:cs typeface="Aptos"/>
              </a:rPr>
              <a:t>Snowflake</a:t>
            </a:r>
          </a:p>
        </p:txBody>
      </p:sp>
      <p:sp>
        <p:nvSpPr>
          <p:cNvPr id="34" name="node-263-3-desc">
            <a:extLst xmlns:a="http://schemas.openxmlformats.org/drawingml/2006/main">
              <a:ext uri="{FF2B5EF4-FFF2-40B4-BE49-F238E27FC236}">
                <a16:creationId xmlns:a16="http://schemas.microsoft.com/office/drawing/2014/main" id="{27B9542D-3F6D-4FDB-8484-7CC84AF8054D}"/>
              </a:ext>
            </a:extLst>
          </p:cNvPr>
          <p:cNvSpPr>
            <a:spLocks xmlns:a="http://schemas.openxmlformats.org/drawingml/2006/main" noGrp="1"/>
          </p:cNvSpPr>
          <p:nvPr/>
        </p:nvSpPr>
        <p:spPr>
          <a:xfrm xmlns:a="http://schemas.openxmlformats.org/drawingml/2006/main">
            <a:off x="9458325" y="3181350"/>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DDEEE4"/>
                </a:solidFill>
                <a:latin typeface="Aptos"/>
                <a:ea typeface="Aptos"/>
                <a:cs typeface="Aptos"/>
              </a:defRPr>
            </a:pPr>
            <a:r>
              <a:rPr sz="1650" b="0">
                <a:solidFill>
                  <a:srgbClr val="DDEEE4"/>
                </a:solidFill>
                <a:latin typeface="Aptos"/>
                <a:ea typeface="Aptos"/>
                <a:cs typeface="Aptos"/>
              </a:rPr>
              <a:t>20 fictional customers</a:t>
            </a:r>
          </a:p>
        </p:txBody>
      </p:sp>
      <p:sp>
        <p:nvSpPr>
          <p:cNvPr id="35" name="node-458-3">
            <a:extLst xmlns:a="http://schemas.openxmlformats.org/drawingml/2006/main">
              <a:ext uri="{FF2B5EF4-FFF2-40B4-BE49-F238E27FC236}">
                <a16:creationId xmlns:a16="http://schemas.microsoft.com/office/drawing/2014/main" id="{C6DE3847-E919-40D8-874A-A372F408422F}"/>
              </a:ext>
            </a:extLst>
          </p:cNvPr>
          <p:cNvSpPr>
            <a:spLocks xmlns:a="http://schemas.openxmlformats.org/drawingml/2006/main" noGrp="1"/>
          </p:cNvSpPr>
          <p:nvPr/>
        </p:nvSpPr>
        <p:spPr>
          <a:xfrm xmlns:a="http://schemas.openxmlformats.org/drawingml/2006/main">
            <a:off x="9296400" y="4362450"/>
            <a:ext cx="2286000" cy="1143000"/>
          </a:xfrm>
          <a:prstGeom xmlns:a="http://schemas.openxmlformats.org/drawingml/2006/main" prst="roundRect">
            <a:avLst>
              <a:gd name="adj" fmla="val 8333"/>
            </a:avLst>
          </a:prstGeom>
          <a:solidFill xmlns:a="http://schemas.openxmlformats.org/drawingml/2006/main">
            <a:srgbClr val="143D35"/>
          </a:solidFill>
          <a:ln xmlns:a="http://schemas.openxmlformats.org/drawingml/2006/main" w="9525">
            <a:solidFill>
              <a:srgbClr val="CDDBD4"/>
            </a:solidFill>
            <a:prstDash val="solid"/>
          </a:ln>
        </p:spPr>
      </p:sp>
      <p:sp>
        <p:nvSpPr>
          <p:cNvPr id="36" name="node-458-3-title">
            <a:extLst xmlns:a="http://schemas.openxmlformats.org/drawingml/2006/main">
              <a:ext uri="{FF2B5EF4-FFF2-40B4-BE49-F238E27FC236}">
                <a16:creationId xmlns:a16="http://schemas.microsoft.com/office/drawing/2014/main" id="{74F5B5A1-34B7-4F8E-9669-C6787F6882F3}"/>
              </a:ext>
            </a:extLst>
          </p:cNvPr>
          <p:cNvSpPr>
            <a:spLocks xmlns:a="http://schemas.openxmlformats.org/drawingml/2006/main" noGrp="1"/>
          </p:cNvSpPr>
          <p:nvPr/>
        </p:nvSpPr>
        <p:spPr>
          <a:xfrm xmlns:a="http://schemas.openxmlformats.org/drawingml/2006/main">
            <a:off x="9458325" y="4572000"/>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F5F7F3"/>
                </a:solidFill>
                <a:latin typeface="Aptos"/>
                <a:ea typeface="Aptos"/>
                <a:cs typeface="Aptos"/>
              </a:defRPr>
            </a:pPr>
            <a:r>
              <a:rPr sz="2400" b="1">
                <a:solidFill>
                  <a:srgbClr val="F5F7F3"/>
                </a:solidFill>
                <a:latin typeface="Aptos"/>
                <a:ea typeface="Aptos"/>
                <a:cs typeface="Aptos"/>
              </a:rPr>
              <a:t>Private data</a:t>
            </a:r>
          </a:p>
        </p:txBody>
      </p:sp>
      <p:sp>
        <p:nvSpPr>
          <p:cNvPr id="37" name="node-458-3-desc">
            <a:extLst xmlns:a="http://schemas.openxmlformats.org/drawingml/2006/main">
              <a:ext uri="{FF2B5EF4-FFF2-40B4-BE49-F238E27FC236}">
                <a16:creationId xmlns:a16="http://schemas.microsoft.com/office/drawing/2014/main" id="{A62F3F2C-790A-488B-9D41-BC05220D2507}"/>
              </a:ext>
            </a:extLst>
          </p:cNvPr>
          <p:cNvSpPr>
            <a:spLocks xmlns:a="http://schemas.openxmlformats.org/drawingml/2006/main" noGrp="1"/>
          </p:cNvSpPr>
          <p:nvPr/>
        </p:nvSpPr>
        <p:spPr>
          <a:xfrm xmlns:a="http://schemas.openxmlformats.org/drawingml/2006/main">
            <a:off x="9458325" y="5038725"/>
            <a:ext cx="196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DDEEE4"/>
                </a:solidFill>
                <a:latin typeface="Aptos"/>
                <a:ea typeface="Aptos"/>
                <a:cs typeface="Aptos"/>
              </a:defRPr>
            </a:pPr>
            <a:r>
              <a:rPr sz="1650" b="0">
                <a:solidFill>
                  <a:srgbClr val="DDEEE4"/>
                </a:solidFill>
                <a:latin typeface="Aptos"/>
                <a:ea typeface="Aptos"/>
                <a:cs typeface="Aptos"/>
              </a:rPr>
              <a:t>Snowflake · pending</a:t>
            </a:r>
          </a:p>
        </p:txBody>
      </p:sp>
      <p:sp>
        <p:nvSpPr>
          <p:cNvPr id="38" name="arch-note">
            <a:extLst xmlns:a="http://schemas.openxmlformats.org/drawingml/2006/main">
              <a:ext uri="{FF2B5EF4-FFF2-40B4-BE49-F238E27FC236}">
                <a16:creationId xmlns:a16="http://schemas.microsoft.com/office/drawing/2014/main" id="{AD562EAF-4102-4DBA-9ED9-B78C46C42A47}"/>
              </a:ext>
            </a:extLst>
          </p:cNvPr>
          <p:cNvSpPr>
            <a:spLocks xmlns:a="http://schemas.openxmlformats.org/drawingml/2006/main" noGrp="1"/>
          </p:cNvSpPr>
          <p:nvPr/>
        </p:nvSpPr>
        <p:spPr>
          <a:xfrm xmlns:a="http://schemas.openxmlformats.org/drawingml/2006/main">
            <a:off x="609600" y="58388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537269"/>
                </a:solidFill>
                <a:latin typeface="Aptos"/>
                <a:ea typeface="Aptos"/>
                <a:cs typeface="Aptos"/>
              </a:defRPr>
            </a:pPr>
            <a:r>
              <a:rPr sz="1800" b="0">
                <a:solidFill>
                  <a:srgbClr val="537269"/>
                </a:solidFill>
                <a:latin typeface="Aptos"/>
                <a:ea typeface="Aptos"/>
                <a:cs typeface="Aptos"/>
              </a:rPr>
              <a:t>Public visitors cannot write shared customer data or place telephone calls.</a:t>
            </a:r>
          </a:p>
        </p:txBody>
      </p:sp>
    </p:spTree>
    <p:extLst>
      <p:ext uri="{BB962C8B-B14F-4D97-AF65-F5344CB8AC3E}">
        <p14:creationId xmlns:p14="http://schemas.microsoft.com/office/powerpoint/2010/main" val="893375710"/>
      </p:ext>
    </p:extLst>
  </p:cSld>
</p:sld>
</file>

<file path=ppt/slides/slide5.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7" name="s5-eyebrow">
            <a:extLst xmlns:a="http://schemas.openxmlformats.org/drawingml/2006/main">
              <a:ext uri="{FF2B5EF4-FFF2-40B4-BE49-F238E27FC236}">
                <a16:creationId xmlns:a16="http://schemas.microsoft.com/office/drawing/2014/main" id="{9CF9625E-5B1C-485F-9E78-E37471764CB3}"/>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F7964"/>
                </a:solidFill>
                <a:latin typeface="Aptos"/>
                <a:ea typeface="Aptos"/>
                <a:cs typeface="Aptos"/>
              </a:defRPr>
            </a:pPr>
            <a:r>
              <a:rPr sz="1200" b="1">
                <a:solidFill>
                  <a:srgbClr val="0F7964"/>
                </a:solidFill>
                <a:latin typeface="Aptos"/>
                <a:ea typeface="Aptos"/>
                <a:cs typeface="Aptos"/>
              </a:rPr>
              <a:t>SAMVAAD360 / LENDING</a:t>
            </a:r>
          </a:p>
        </p:txBody>
      </p:sp>
      <p:sp>
        <p:nvSpPr>
          <p:cNvPr id="2" name="s5-title">
            <a:extLst xmlns:a="http://schemas.openxmlformats.org/drawingml/2006/main">
              <a:ext uri="{FF2B5EF4-FFF2-40B4-BE49-F238E27FC236}">
                <a16:creationId xmlns:a16="http://schemas.microsoft.com/office/drawing/2014/main" id="{23647BF7-8E39-4A6A-B55C-FF2708B335EF}"/>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43D35"/>
                </a:solidFill>
                <a:latin typeface="Aptos"/>
                <a:ea typeface="Aptos"/>
                <a:cs typeface="Aptos"/>
              </a:defRPr>
            </a:pPr>
            <a:r>
              <a:rPr sz="3600" b="1">
                <a:solidFill>
                  <a:srgbClr val="143D35"/>
                </a:solidFill>
                <a:latin typeface="Aptos"/>
                <a:ea typeface="Aptos"/>
                <a:cs typeface="Aptos"/>
              </a:rPr>
              <a:t>Three capabilities compose the demo.</a:t>
            </a:r>
          </a:p>
        </p:txBody>
      </p:sp>
      <p:sp>
        <p:nvSpPr>
          <p:cNvPr id="3" name="s5-footer-rule">
            <a:extLst xmlns:a="http://schemas.openxmlformats.org/drawingml/2006/main">
              <a:ext uri="{FF2B5EF4-FFF2-40B4-BE49-F238E27FC236}">
                <a16:creationId xmlns:a16="http://schemas.microsoft.com/office/drawing/2014/main" id="{635D6B34-DB2B-4565-B91B-CB2BA2D89708}"/>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4" name="s5-footer">
            <a:extLst xmlns:a="http://schemas.openxmlformats.org/drawingml/2006/main">
              <a:ext uri="{FF2B5EF4-FFF2-40B4-BE49-F238E27FC236}">
                <a16:creationId xmlns:a16="http://schemas.microsoft.com/office/drawing/2014/main" id="{F5B11167-575F-474A-BB09-4D4379A45E82}"/>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537269"/>
                </a:solidFill>
                <a:latin typeface="Aptos"/>
                <a:ea typeface="Aptos"/>
                <a:cs typeface="Aptos"/>
              </a:defRPr>
            </a:pPr>
            <a:r>
              <a:rPr sz="1125" b="0">
                <a:solidFill>
                  <a:srgbClr val="537269"/>
                </a:solidFill>
                <a:latin typeface="Aptos"/>
                <a:ea typeface="Aptos"/>
                <a:cs typeface="Aptos"/>
              </a:rPr>
              <a:t>Samvaad360 · Customer 360 + Next Best Action · Synthetic lending prototype</a:t>
            </a:r>
          </a:p>
        </p:txBody>
      </p:sp>
      <p:sp>
        <p:nvSpPr>
          <p:cNvPr id="5" name="s5-number">
            <a:extLst xmlns:a="http://schemas.openxmlformats.org/drawingml/2006/main">
              <a:ext uri="{FF2B5EF4-FFF2-40B4-BE49-F238E27FC236}">
                <a16:creationId xmlns:a16="http://schemas.microsoft.com/office/drawing/2014/main" id="{D7686E1D-F655-45AA-9F55-0C20496BA901}"/>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537269"/>
                </a:solidFill>
                <a:latin typeface="Aptos"/>
                <a:ea typeface="Aptos"/>
                <a:cs typeface="Aptos"/>
              </a:defRPr>
            </a:pPr>
            <a:r>
              <a:rPr sz="1275" b="0">
                <a:solidFill>
                  <a:srgbClr val="537269"/>
                </a:solidFill>
                <a:latin typeface="Aptos"/>
                <a:ea typeface="Aptos"/>
                <a:cs typeface="Aptos"/>
              </a:rPr>
              <a:t>05</a:t>
            </a:r>
          </a:p>
        </p:txBody>
      </p:sp>
      <p:sp>
        <p:nvSpPr>
          <p:cNvPr id="6" name="cap-num-0">
            <a:extLst xmlns:a="http://schemas.openxmlformats.org/drawingml/2006/main">
              <a:ext uri="{FF2B5EF4-FFF2-40B4-BE49-F238E27FC236}">
                <a16:creationId xmlns:a16="http://schemas.microsoft.com/office/drawing/2014/main" id="{7F584C0C-1200-4D84-B3CC-AFBB3E14E6FA}"/>
              </a:ext>
            </a:extLst>
          </p:cNvPr>
          <p:cNvSpPr>
            <a:spLocks xmlns:a="http://schemas.openxmlformats.org/drawingml/2006/main" noGrp="1"/>
          </p:cNvSpPr>
          <p:nvPr/>
        </p:nvSpPr>
        <p:spPr>
          <a:xfrm xmlns:a="http://schemas.openxmlformats.org/drawingml/2006/main">
            <a:off x="609600" y="22098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75" b="1">
                <a:solidFill>
                  <a:srgbClr val="0F7964"/>
                </a:solidFill>
                <a:latin typeface="Aptos"/>
                <a:ea typeface="Aptos"/>
                <a:cs typeface="Aptos"/>
              </a:defRPr>
            </a:pPr>
            <a:r>
              <a:rPr sz="4575" b="1">
                <a:solidFill>
                  <a:srgbClr val="0F7964"/>
                </a:solidFill>
                <a:latin typeface="Aptos"/>
                <a:ea typeface="Aptos"/>
                <a:cs typeface="Aptos"/>
              </a:rPr>
              <a:t>01</a:t>
            </a:r>
          </a:p>
        </p:txBody>
      </p:sp>
      <p:sp>
        <p:nvSpPr>
          <p:cNvPr id="7" name="cap-head-0">
            <a:extLst xmlns:a="http://schemas.openxmlformats.org/drawingml/2006/main">
              <a:ext uri="{FF2B5EF4-FFF2-40B4-BE49-F238E27FC236}">
                <a16:creationId xmlns:a16="http://schemas.microsoft.com/office/drawing/2014/main" id="{B029E242-95DB-49AB-8EFC-7853B84D94FF}"/>
              </a:ext>
            </a:extLst>
          </p:cNvPr>
          <p:cNvSpPr>
            <a:spLocks xmlns:a="http://schemas.openxmlformats.org/drawingml/2006/main" noGrp="1"/>
          </p:cNvSpPr>
          <p:nvPr/>
        </p:nvSpPr>
        <p:spPr>
          <a:xfrm xmlns:a="http://schemas.openxmlformats.org/drawingml/2006/main">
            <a:off x="609600" y="3114675"/>
            <a:ext cx="314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75" b="1">
                <a:solidFill>
                  <a:srgbClr val="143D35"/>
                </a:solidFill>
                <a:latin typeface="Aptos"/>
                <a:ea typeface="Aptos"/>
                <a:cs typeface="Aptos"/>
              </a:defRPr>
            </a:pPr>
            <a:r>
              <a:rPr sz="2475" b="1">
                <a:solidFill>
                  <a:srgbClr val="143D35"/>
                </a:solidFill>
                <a:latin typeface="Aptos"/>
                <a:ea typeface="Aptos"/>
                <a:cs typeface="Aptos"/>
              </a:rPr>
              <a:t>Relationship</a:t>
            </a:r>
          </a:p>
          <a:p xmlns:a="http://schemas.openxmlformats.org/drawingml/2006/main">
            <a:pPr algn="l">
              <a:lnSpc>
                <a:spcPct val="108000"/>
              </a:lnSpc>
              <a:buNone/>
              <a:defRPr sz="2475" b="1">
                <a:solidFill>
                  <a:srgbClr val="143D35"/>
                </a:solidFill>
                <a:latin typeface="Aptos"/>
                <a:ea typeface="Aptos"/>
                <a:cs typeface="Aptos"/>
              </a:defRPr>
            </a:pPr>
            <a:r>
              <a:rPr sz="2475" b="1">
                <a:solidFill>
                  <a:srgbClr val="143D35"/>
                </a:solidFill>
                <a:latin typeface="Aptos"/>
                <a:ea typeface="Aptos"/>
                <a:cs typeface="Aptos"/>
              </a:rPr>
              <a:t>intelligence</a:t>
            </a:r>
          </a:p>
        </p:txBody>
      </p:sp>
      <p:sp>
        <p:nvSpPr>
          <p:cNvPr id="8" name="cap-body-0">
            <a:extLst xmlns:a="http://schemas.openxmlformats.org/drawingml/2006/main">
              <a:ext uri="{FF2B5EF4-FFF2-40B4-BE49-F238E27FC236}">
                <a16:creationId xmlns:a16="http://schemas.microsoft.com/office/drawing/2014/main" id="{F4F43DAC-AEF7-4A14-AA58-2402FBB206BA}"/>
              </a:ext>
            </a:extLst>
          </p:cNvPr>
          <p:cNvSpPr>
            <a:spLocks xmlns:a="http://schemas.openxmlformats.org/drawingml/2006/main" noGrp="1"/>
          </p:cNvSpPr>
          <p:nvPr/>
        </p:nvSpPr>
        <p:spPr>
          <a:xfrm xmlns:a="http://schemas.openxmlformats.org/drawingml/2006/main">
            <a:off x="609600" y="417195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537269"/>
                </a:solidFill>
                <a:latin typeface="Aptos"/>
                <a:ea typeface="Aptos"/>
                <a:cs typeface="Aptos"/>
              </a:defRPr>
            </a:pPr>
            <a:r>
              <a:rPr sz="1800" b="0">
                <a:solidFill>
                  <a:srgbClr val="537269"/>
                </a:solidFill>
                <a:latin typeface="Aptos"/>
                <a:ea typeface="Aptos"/>
                <a:cs typeface="Aptos"/>
              </a:rPr>
              <a:t>Reconcile customer, loan, repayment and conversation records.</a:t>
            </a:r>
          </a:p>
        </p:txBody>
      </p:sp>
      <p:sp>
        <p:nvSpPr>
          <p:cNvPr id="9" name="cap-num-1">
            <a:extLst xmlns:a="http://schemas.openxmlformats.org/drawingml/2006/main">
              <a:ext uri="{FF2B5EF4-FFF2-40B4-BE49-F238E27FC236}">
                <a16:creationId xmlns:a16="http://schemas.microsoft.com/office/drawing/2014/main" id="{C968300F-D796-4BC2-BC5C-4DE3A0D13CA5}"/>
              </a:ext>
            </a:extLst>
          </p:cNvPr>
          <p:cNvSpPr>
            <a:spLocks xmlns:a="http://schemas.openxmlformats.org/drawingml/2006/main" noGrp="1"/>
          </p:cNvSpPr>
          <p:nvPr/>
        </p:nvSpPr>
        <p:spPr>
          <a:xfrm xmlns:a="http://schemas.openxmlformats.org/drawingml/2006/main">
            <a:off x="4362450" y="22098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75" b="1">
                <a:solidFill>
                  <a:srgbClr val="0F7964"/>
                </a:solidFill>
                <a:latin typeface="Aptos"/>
                <a:ea typeface="Aptos"/>
                <a:cs typeface="Aptos"/>
              </a:defRPr>
            </a:pPr>
            <a:r>
              <a:rPr sz="4575" b="1">
                <a:solidFill>
                  <a:srgbClr val="0F7964"/>
                </a:solidFill>
                <a:latin typeface="Aptos"/>
                <a:ea typeface="Aptos"/>
                <a:cs typeface="Aptos"/>
              </a:rPr>
              <a:t>02</a:t>
            </a:r>
          </a:p>
        </p:txBody>
      </p:sp>
      <p:sp>
        <p:nvSpPr>
          <p:cNvPr id="10" name="cap-head-1">
            <a:extLst xmlns:a="http://schemas.openxmlformats.org/drawingml/2006/main">
              <a:ext uri="{FF2B5EF4-FFF2-40B4-BE49-F238E27FC236}">
                <a16:creationId xmlns:a16="http://schemas.microsoft.com/office/drawing/2014/main" id="{3B769CBB-7827-4144-99E6-87F06C7720D6}"/>
              </a:ext>
            </a:extLst>
          </p:cNvPr>
          <p:cNvSpPr>
            <a:spLocks xmlns:a="http://schemas.openxmlformats.org/drawingml/2006/main" noGrp="1"/>
          </p:cNvSpPr>
          <p:nvPr/>
        </p:nvSpPr>
        <p:spPr>
          <a:xfrm xmlns:a="http://schemas.openxmlformats.org/drawingml/2006/main">
            <a:off x="4362450" y="3114675"/>
            <a:ext cx="314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75" b="1">
                <a:solidFill>
                  <a:srgbClr val="143D35"/>
                </a:solidFill>
                <a:latin typeface="Aptos"/>
                <a:ea typeface="Aptos"/>
                <a:cs typeface="Aptos"/>
              </a:defRPr>
            </a:pPr>
            <a:r>
              <a:rPr sz="2475" b="1">
                <a:solidFill>
                  <a:srgbClr val="143D35"/>
                </a:solidFill>
                <a:latin typeface="Aptos"/>
                <a:ea typeface="Aptos"/>
                <a:cs typeface="Aptos"/>
              </a:rPr>
              <a:t>Policy-aware</a:t>
            </a:r>
          </a:p>
          <a:p xmlns:a="http://schemas.openxmlformats.org/drawingml/2006/main">
            <a:pPr algn="l">
              <a:lnSpc>
                <a:spcPct val="108000"/>
              </a:lnSpc>
              <a:buNone/>
              <a:defRPr sz="2475" b="1">
                <a:solidFill>
                  <a:srgbClr val="143D35"/>
                </a:solidFill>
                <a:latin typeface="Aptos"/>
                <a:ea typeface="Aptos"/>
                <a:cs typeface="Aptos"/>
              </a:defRPr>
            </a:pPr>
            <a:r>
              <a:rPr sz="2475" b="1">
                <a:solidFill>
                  <a:srgbClr val="143D35"/>
                </a:solidFill>
                <a:latin typeface="Aptos"/>
                <a:ea typeface="Aptos"/>
                <a:cs typeface="Aptos"/>
              </a:rPr>
              <a:t>intervention</a:t>
            </a:r>
          </a:p>
        </p:txBody>
      </p:sp>
      <p:sp>
        <p:nvSpPr>
          <p:cNvPr id="11" name="cap-body-1">
            <a:extLst xmlns:a="http://schemas.openxmlformats.org/drawingml/2006/main">
              <a:ext uri="{FF2B5EF4-FFF2-40B4-BE49-F238E27FC236}">
                <a16:creationId xmlns:a16="http://schemas.microsoft.com/office/drawing/2014/main" id="{15D9A3DB-0D4D-44B0-B51F-F6EC2AC02152}"/>
              </a:ext>
            </a:extLst>
          </p:cNvPr>
          <p:cNvSpPr>
            <a:spLocks xmlns:a="http://schemas.openxmlformats.org/drawingml/2006/main" noGrp="1"/>
          </p:cNvSpPr>
          <p:nvPr/>
        </p:nvSpPr>
        <p:spPr>
          <a:xfrm xmlns:a="http://schemas.openxmlformats.org/drawingml/2006/main">
            <a:off x="4362450" y="417195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537269"/>
                </a:solidFill>
                <a:latin typeface="Aptos"/>
                <a:ea typeface="Aptos"/>
                <a:cs typeface="Aptos"/>
              </a:defRPr>
            </a:pPr>
            <a:r>
              <a:rPr sz="1800" b="0">
                <a:solidFill>
                  <a:srgbClr val="537269"/>
                </a:solidFill>
                <a:latin typeface="Aptos"/>
                <a:ea typeface="Aptos"/>
                <a:cs typeface="Aptos"/>
              </a:rPr>
              <a:t>Cite evidence, test new context and route the right review.</a:t>
            </a:r>
          </a:p>
        </p:txBody>
      </p:sp>
      <p:sp>
        <p:nvSpPr>
          <p:cNvPr id="12" name="cap-num-2">
            <a:extLst xmlns:a="http://schemas.openxmlformats.org/drawingml/2006/main">
              <a:ext uri="{FF2B5EF4-FFF2-40B4-BE49-F238E27FC236}">
                <a16:creationId xmlns:a16="http://schemas.microsoft.com/office/drawing/2014/main" id="{F3221754-22B5-4DF5-945F-79ACECCAACB5}"/>
              </a:ext>
            </a:extLst>
          </p:cNvPr>
          <p:cNvSpPr>
            <a:spLocks xmlns:a="http://schemas.openxmlformats.org/drawingml/2006/main" noGrp="1"/>
          </p:cNvSpPr>
          <p:nvPr/>
        </p:nvSpPr>
        <p:spPr>
          <a:xfrm xmlns:a="http://schemas.openxmlformats.org/drawingml/2006/main">
            <a:off x="8115300" y="2209800"/>
            <a:ext cx="314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75" b="1">
                <a:solidFill>
                  <a:srgbClr val="0F7964"/>
                </a:solidFill>
                <a:latin typeface="Aptos"/>
                <a:ea typeface="Aptos"/>
                <a:cs typeface="Aptos"/>
              </a:defRPr>
            </a:pPr>
            <a:r>
              <a:rPr sz="4575" b="1">
                <a:solidFill>
                  <a:srgbClr val="0F7964"/>
                </a:solidFill>
                <a:latin typeface="Aptos"/>
                <a:ea typeface="Aptos"/>
                <a:cs typeface="Aptos"/>
              </a:rPr>
              <a:t>03</a:t>
            </a:r>
          </a:p>
        </p:txBody>
      </p:sp>
      <p:sp>
        <p:nvSpPr>
          <p:cNvPr id="13" name="cap-head-2">
            <a:extLst xmlns:a="http://schemas.openxmlformats.org/drawingml/2006/main">
              <a:ext uri="{FF2B5EF4-FFF2-40B4-BE49-F238E27FC236}">
                <a16:creationId xmlns:a16="http://schemas.microsoft.com/office/drawing/2014/main" id="{8766AC42-B2CF-4ED1-9F7B-F05BAAB0E4FF}"/>
              </a:ext>
            </a:extLst>
          </p:cNvPr>
          <p:cNvSpPr>
            <a:spLocks xmlns:a="http://schemas.openxmlformats.org/drawingml/2006/main" noGrp="1"/>
          </p:cNvSpPr>
          <p:nvPr/>
        </p:nvSpPr>
        <p:spPr>
          <a:xfrm xmlns:a="http://schemas.openxmlformats.org/drawingml/2006/main">
            <a:off x="8115300" y="3114675"/>
            <a:ext cx="314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75" b="1">
                <a:solidFill>
                  <a:srgbClr val="143D35"/>
                </a:solidFill>
                <a:latin typeface="Aptos"/>
                <a:ea typeface="Aptos"/>
                <a:cs typeface="Aptos"/>
              </a:defRPr>
            </a:pPr>
            <a:r>
              <a:rPr sz="2475" b="1">
                <a:solidFill>
                  <a:srgbClr val="143D35"/>
                </a:solidFill>
                <a:latin typeface="Aptos"/>
                <a:ea typeface="Aptos"/>
                <a:cs typeface="Aptos"/>
              </a:rPr>
              <a:t>Guarded</a:t>
            </a:r>
          </a:p>
          <a:p xmlns:a="http://schemas.openxmlformats.org/drawingml/2006/main">
            <a:pPr algn="l">
              <a:lnSpc>
                <a:spcPct val="108000"/>
              </a:lnSpc>
              <a:buNone/>
              <a:defRPr sz="2475" b="1">
                <a:solidFill>
                  <a:srgbClr val="143D35"/>
                </a:solidFill>
                <a:latin typeface="Aptos"/>
                <a:ea typeface="Aptos"/>
                <a:cs typeface="Aptos"/>
              </a:defRPr>
            </a:pPr>
            <a:r>
              <a:rPr sz="2475" b="1">
                <a:solidFill>
                  <a:srgbClr val="143D35"/>
                </a:solidFill>
                <a:latin typeface="Aptos"/>
                <a:ea typeface="Aptos"/>
                <a:cs typeface="Aptos"/>
              </a:rPr>
              <a:t>automation</a:t>
            </a:r>
          </a:p>
        </p:txBody>
      </p:sp>
      <p:sp>
        <p:nvSpPr>
          <p:cNvPr id="14" name="cap-body-2">
            <a:extLst xmlns:a="http://schemas.openxmlformats.org/drawingml/2006/main">
              <a:ext uri="{FF2B5EF4-FFF2-40B4-BE49-F238E27FC236}">
                <a16:creationId xmlns:a16="http://schemas.microsoft.com/office/drawing/2014/main" id="{72516062-1458-410C-A94F-A4EDB8EE241F}"/>
              </a:ext>
            </a:extLst>
          </p:cNvPr>
          <p:cNvSpPr>
            <a:spLocks xmlns:a="http://schemas.openxmlformats.org/drawingml/2006/main" noGrp="1"/>
          </p:cNvSpPr>
          <p:nvPr/>
        </p:nvSpPr>
        <p:spPr>
          <a:xfrm xmlns:a="http://schemas.openxmlformats.org/drawingml/2006/main">
            <a:off x="8115300" y="4171950"/>
            <a:ext cx="3143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537269"/>
                </a:solidFill>
                <a:latin typeface="Aptos"/>
                <a:ea typeface="Aptos"/>
                <a:cs typeface="Aptos"/>
              </a:defRPr>
            </a:pPr>
            <a:r>
              <a:rPr sz="1800" b="0">
                <a:solidFill>
                  <a:srgbClr val="537269"/>
                </a:solidFill>
                <a:latin typeface="Aptos"/>
                <a:ea typeface="Aptos"/>
                <a:cs typeface="Aptos"/>
              </a:rPr>
              <a:t>Require recorded approval and preserve a replay-safe audit trail.</a:t>
            </a:r>
          </a:p>
        </p:txBody>
      </p:sp>
      <p:sp>
        <p:nvSpPr>
          <p:cNvPr id="15" name="skill-note-bg">
            <a:extLst xmlns:a="http://schemas.openxmlformats.org/drawingml/2006/main">
              <a:ext uri="{FF2B5EF4-FFF2-40B4-BE49-F238E27FC236}">
                <a16:creationId xmlns:a16="http://schemas.microsoft.com/office/drawing/2014/main" id="{A87E35FF-A399-44EC-A91C-E8C056FCA416}"/>
              </a:ext>
            </a:extLst>
          </p:cNvPr>
          <p:cNvSpPr>
            <a:spLocks xmlns:a="http://schemas.openxmlformats.org/drawingml/2006/main" noGrp="1"/>
          </p:cNvSpPr>
          <p:nvPr/>
        </p:nvSpPr>
        <p:spPr>
          <a:xfrm xmlns:a="http://schemas.openxmlformats.org/drawingml/2006/main">
            <a:off x="609600" y="5514975"/>
            <a:ext cx="10972800" cy="600075"/>
          </a:xfrm>
          <a:prstGeom xmlns:a="http://schemas.openxmlformats.org/drawingml/2006/main" prst="roundRect">
            <a:avLst>
              <a:gd name="adj" fmla="val 12698"/>
            </a:avLst>
          </a:prstGeom>
          <a:solidFill xmlns:a="http://schemas.openxmlformats.org/drawingml/2006/main">
            <a:srgbClr val="DDEEE4"/>
          </a:solidFill>
          <a:ln xmlns:a="http://schemas.openxmlformats.org/drawingml/2006/main" w="0">
            <a:noFill/>
            <a:prstDash val="solid"/>
          </a:ln>
        </p:spPr>
      </p:sp>
      <p:sp>
        <p:nvSpPr>
          <p:cNvPr id="16" name="skill-note">
            <a:extLst xmlns:a="http://schemas.openxmlformats.org/drawingml/2006/main">
              <a:ext uri="{FF2B5EF4-FFF2-40B4-BE49-F238E27FC236}">
                <a16:creationId xmlns:a16="http://schemas.microsoft.com/office/drawing/2014/main" id="{2F63EB35-7B7C-416A-8860-C95B076B60DD}"/>
              </a:ext>
            </a:extLst>
          </p:cNvPr>
          <p:cNvSpPr>
            <a:spLocks xmlns:a="http://schemas.openxmlformats.org/drawingml/2006/main" noGrp="1"/>
          </p:cNvSpPr>
          <p:nvPr/>
        </p:nvSpPr>
        <p:spPr>
          <a:xfrm xmlns:a="http://schemas.openxmlformats.org/drawingml/2006/main">
            <a:off x="790575" y="5629275"/>
            <a:ext cx="10639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0">
                <a:solidFill>
                  <a:srgbClr val="143D35"/>
                </a:solidFill>
                <a:latin typeface="Aptos"/>
                <a:ea typeface="Aptos"/>
                <a:cs typeface="Aptos"/>
              </a:defRPr>
            </a:pPr>
            <a:r>
              <a:rPr sz="1800" b="0">
                <a:solidFill>
                  <a:srgbClr val="143D35"/>
                </a:solidFill>
                <a:latin typeface="Aptos"/>
                <a:ea typeface="Aptos"/>
                <a:cs typeface="Aptos"/>
              </a:rPr>
              <a:t>CoCo skill definitions included: evidence · generate · approved runner.</a:t>
            </a:r>
          </a:p>
        </p:txBody>
      </p:sp>
    </p:spTree>
    <p:extLst>
      <p:ext uri="{BB962C8B-B14F-4D97-AF65-F5344CB8AC3E}">
        <p14:creationId xmlns:p14="http://schemas.microsoft.com/office/powerpoint/2010/main" val="448094600"/>
      </p:ext>
    </p:extLst>
  </p:cSld>
</p:sld>
</file>

<file path=ppt/slides/slide6.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3" name="s6-eyebrow">
            <a:extLst xmlns:a="http://schemas.openxmlformats.org/drawingml/2006/main">
              <a:ext uri="{FF2B5EF4-FFF2-40B4-BE49-F238E27FC236}">
                <a16:creationId xmlns:a16="http://schemas.microsoft.com/office/drawing/2014/main" id="{00A8FEF8-E6BC-430D-AD11-D644C82A2AB7}"/>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F7964"/>
                </a:solidFill>
                <a:latin typeface="Aptos"/>
                <a:ea typeface="Aptos"/>
                <a:cs typeface="Aptos"/>
              </a:defRPr>
            </a:pPr>
            <a:r>
              <a:rPr sz="1200" b="1">
                <a:solidFill>
                  <a:srgbClr val="0F7964"/>
                </a:solidFill>
                <a:latin typeface="Aptos"/>
                <a:ea typeface="Aptos"/>
                <a:cs typeface="Aptos"/>
              </a:rPr>
              <a:t>SAMVAAD360 / LENDING</a:t>
            </a:r>
          </a:p>
        </p:txBody>
      </p:sp>
      <p:sp>
        <p:nvSpPr>
          <p:cNvPr id="2" name="s6-title">
            <a:extLst xmlns:a="http://schemas.openxmlformats.org/drawingml/2006/main">
              <a:ext uri="{FF2B5EF4-FFF2-40B4-BE49-F238E27FC236}">
                <a16:creationId xmlns:a16="http://schemas.microsoft.com/office/drawing/2014/main" id="{80A24CBB-2CBD-4650-9AB0-369D6002951E}"/>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43D35"/>
                </a:solidFill>
                <a:latin typeface="Aptos"/>
                <a:ea typeface="Aptos"/>
                <a:cs typeface="Aptos"/>
              </a:defRPr>
            </a:pPr>
            <a:r>
              <a:rPr sz="3600" b="1">
                <a:solidFill>
                  <a:srgbClr val="143D35"/>
                </a:solidFill>
                <a:latin typeface="Aptos"/>
                <a:ea typeface="Aptos"/>
                <a:cs typeface="Aptos"/>
              </a:rPr>
              <a:t>New context changes the recommendation.</a:t>
            </a:r>
          </a:p>
        </p:txBody>
      </p:sp>
      <p:sp>
        <p:nvSpPr>
          <p:cNvPr id="3" name="s6-footer-rule">
            <a:extLst xmlns:a="http://schemas.openxmlformats.org/drawingml/2006/main">
              <a:ext uri="{FF2B5EF4-FFF2-40B4-BE49-F238E27FC236}">
                <a16:creationId xmlns:a16="http://schemas.microsoft.com/office/drawing/2014/main" id="{686F8BA1-6434-4A34-A0F0-12B23CD139D5}"/>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4" name="s6-footer">
            <a:extLst xmlns:a="http://schemas.openxmlformats.org/drawingml/2006/main">
              <a:ext uri="{FF2B5EF4-FFF2-40B4-BE49-F238E27FC236}">
                <a16:creationId xmlns:a16="http://schemas.microsoft.com/office/drawing/2014/main" id="{576DBEE4-82E9-479C-8DE8-FAE44A4A1418}"/>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537269"/>
                </a:solidFill>
                <a:latin typeface="Aptos"/>
                <a:ea typeface="Aptos"/>
                <a:cs typeface="Aptos"/>
              </a:defRPr>
            </a:pPr>
            <a:r>
              <a:rPr sz="1125" b="0">
                <a:solidFill>
                  <a:srgbClr val="537269"/>
                </a:solidFill>
                <a:latin typeface="Aptos"/>
                <a:ea typeface="Aptos"/>
                <a:cs typeface="Aptos"/>
              </a:rPr>
              <a:t>Samvaad360 · Customer 360 + Next Best Action · Synthetic lending prototype</a:t>
            </a:r>
          </a:p>
        </p:txBody>
      </p:sp>
      <p:sp>
        <p:nvSpPr>
          <p:cNvPr id="5" name="s6-number">
            <a:extLst xmlns:a="http://schemas.openxmlformats.org/drawingml/2006/main">
              <a:ext uri="{FF2B5EF4-FFF2-40B4-BE49-F238E27FC236}">
                <a16:creationId xmlns:a16="http://schemas.microsoft.com/office/drawing/2014/main" id="{A10822F1-98CA-48D4-9AEE-301950B4C631}"/>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537269"/>
                </a:solidFill>
                <a:latin typeface="Aptos"/>
                <a:ea typeface="Aptos"/>
                <a:cs typeface="Aptos"/>
              </a:defRPr>
            </a:pPr>
            <a:r>
              <a:rPr sz="1275" b="0">
                <a:solidFill>
                  <a:srgbClr val="537269"/>
                </a:solidFill>
                <a:latin typeface="Aptos"/>
                <a:ea typeface="Aptos"/>
                <a:cs typeface="Aptos"/>
              </a:rPr>
              <a:t>06</a:t>
            </a:r>
          </a:p>
        </p:txBody>
      </p:sp>
      <p:sp>
        <p:nvSpPr>
          <p:cNvPr id="6" name="workflow-before-label">
            <a:extLst xmlns:a="http://schemas.openxmlformats.org/drawingml/2006/main">
              <a:ext uri="{FF2B5EF4-FFF2-40B4-BE49-F238E27FC236}">
                <a16:creationId xmlns:a16="http://schemas.microsoft.com/office/drawing/2014/main" id="{CEF8C8CC-AEA4-483C-97B5-B17A88B09263}"/>
              </a:ext>
            </a:extLst>
          </p:cNvPr>
          <p:cNvSpPr>
            <a:spLocks xmlns:a="http://schemas.openxmlformats.org/drawingml/2006/main" noGrp="1"/>
          </p:cNvSpPr>
          <p:nvPr/>
        </p:nvSpPr>
        <p:spPr>
          <a:xfrm xmlns:a="http://schemas.openxmlformats.org/drawingml/2006/main">
            <a:off x="609600" y="220980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F7964"/>
                </a:solidFill>
                <a:latin typeface="Aptos"/>
                <a:ea typeface="Aptos"/>
                <a:cs typeface="Aptos"/>
              </a:defRPr>
            </a:pPr>
            <a:r>
              <a:rPr sz="1350" b="1">
                <a:solidFill>
                  <a:srgbClr val="0F7964"/>
                </a:solidFill>
                <a:latin typeface="Aptos"/>
                <a:ea typeface="Aptos"/>
                <a:cs typeface="Aptos"/>
              </a:rPr>
              <a:t>BEFORE</a:t>
            </a:r>
          </a:p>
        </p:txBody>
      </p:sp>
      <p:sp>
        <p:nvSpPr>
          <p:cNvPr id="7" name="workflow-before">
            <a:extLst xmlns:a="http://schemas.openxmlformats.org/drawingml/2006/main">
              <a:ext uri="{FF2B5EF4-FFF2-40B4-BE49-F238E27FC236}">
                <a16:creationId xmlns:a16="http://schemas.microsoft.com/office/drawing/2014/main" id="{CCA87910-1272-44B2-9601-A362F9E495B1}"/>
              </a:ext>
            </a:extLst>
          </p:cNvPr>
          <p:cNvSpPr>
            <a:spLocks xmlns:a="http://schemas.openxmlformats.org/drawingml/2006/main" noGrp="1"/>
          </p:cNvSpPr>
          <p:nvPr/>
        </p:nvSpPr>
        <p:spPr>
          <a:xfrm xmlns:a="http://schemas.openxmlformats.org/drawingml/2006/main">
            <a:off x="609600" y="2581275"/>
            <a:ext cx="4419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43D35"/>
                </a:solidFill>
                <a:latin typeface="Aptos"/>
                <a:ea typeface="Aptos"/>
                <a:cs typeface="Aptos"/>
              </a:defRPr>
            </a:pPr>
            <a:r>
              <a:rPr sz="2325" b="1">
                <a:solidFill>
                  <a:srgbClr val="143D35"/>
                </a:solidFill>
                <a:latin typeface="Aptos"/>
                <a:ea typeface="Aptos"/>
                <a:cs typeface="Aptos"/>
              </a:rPr>
              <a:t>Eligible for a conditional</a:t>
            </a:r>
          </a:p>
          <a:p xmlns:a="http://schemas.openxmlformats.org/drawingml/2006/main">
            <a:pPr algn="l">
              <a:lnSpc>
                <a:spcPct val="108000"/>
              </a:lnSpc>
              <a:buNone/>
              <a:defRPr sz="2325" b="1">
                <a:solidFill>
                  <a:srgbClr val="143D35"/>
                </a:solidFill>
                <a:latin typeface="Aptos"/>
                <a:ea typeface="Aptos"/>
                <a:cs typeface="Aptos"/>
              </a:defRPr>
            </a:pPr>
            <a:r>
              <a:rPr sz="2325" b="1">
                <a:solidFill>
                  <a:srgbClr val="143D35"/>
                </a:solidFill>
                <a:latin typeface="Aptos"/>
                <a:ea typeface="Aptos"/>
                <a:cs typeface="Aptos"/>
              </a:rPr>
              <a:t>top-up invitation.</a:t>
            </a:r>
          </a:p>
        </p:txBody>
      </p:sp>
      <p:sp>
        <p:nvSpPr>
          <p:cNvPr id="8" name="workflow-input">
            <a:extLst xmlns:a="http://schemas.openxmlformats.org/drawingml/2006/main">
              <a:ext uri="{FF2B5EF4-FFF2-40B4-BE49-F238E27FC236}">
                <a16:creationId xmlns:a16="http://schemas.microsoft.com/office/drawing/2014/main" id="{90CA3746-A48C-441B-B582-F4663BC4D97D}"/>
              </a:ext>
            </a:extLst>
          </p:cNvPr>
          <p:cNvSpPr>
            <a:spLocks xmlns:a="http://schemas.openxmlformats.org/drawingml/2006/main" noGrp="1"/>
          </p:cNvSpPr>
          <p:nvPr/>
        </p:nvSpPr>
        <p:spPr>
          <a:xfrm xmlns:a="http://schemas.openxmlformats.org/drawingml/2006/main">
            <a:off x="609600" y="3810000"/>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537269"/>
                </a:solidFill>
                <a:latin typeface="Aptos"/>
                <a:ea typeface="Aptos"/>
                <a:cs typeface="Aptos"/>
              </a:defRPr>
            </a:pPr>
            <a:r>
              <a:rPr sz="2100" b="0">
                <a:solidFill>
                  <a:srgbClr val="537269"/>
                </a:solidFill>
                <a:latin typeface="Aptos"/>
                <a:ea typeface="Aptos"/>
                <a:cs typeface="Aptos"/>
              </a:rPr>
              <a:t>Borrower reply: “I lost my job.”</a:t>
            </a:r>
          </a:p>
        </p:txBody>
      </p:sp>
      <p:sp>
        <p:nvSpPr>
          <p:cNvPr id="9" name="workflow-after">
            <a:extLst xmlns:a="http://schemas.openxmlformats.org/drawingml/2006/main">
              <a:ext uri="{FF2B5EF4-FFF2-40B4-BE49-F238E27FC236}">
                <a16:creationId xmlns:a16="http://schemas.microsoft.com/office/drawing/2014/main" id="{A02AD0CC-ADBA-4B7C-B095-CF4E0033DFB8}"/>
              </a:ext>
            </a:extLst>
          </p:cNvPr>
          <p:cNvSpPr>
            <a:spLocks xmlns:a="http://schemas.openxmlformats.org/drawingml/2006/main" noGrp="1"/>
          </p:cNvSpPr>
          <p:nvPr/>
        </p:nvSpPr>
        <p:spPr>
          <a:xfrm xmlns:a="http://schemas.openxmlformats.org/drawingml/2006/main">
            <a:off x="609600" y="4857750"/>
            <a:ext cx="457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0F7964"/>
                </a:solidFill>
                <a:latin typeface="Aptos"/>
                <a:ea typeface="Aptos"/>
                <a:cs typeface="Aptos"/>
              </a:defRPr>
            </a:pPr>
            <a:r>
              <a:rPr sz="2400" b="1">
                <a:solidFill>
                  <a:srgbClr val="0F7964"/>
                </a:solidFill>
                <a:latin typeface="Aptos"/>
                <a:ea typeface="Aptos"/>
                <a:cs typeface="Aptos"/>
              </a:rPr>
              <a:t>Growth closes.</a:t>
            </a:r>
          </a:p>
          <a:p xmlns:a="http://schemas.openxmlformats.org/drawingml/2006/main">
            <a:pPr algn="l">
              <a:lnSpc>
                <a:spcPct val="108000"/>
              </a:lnSpc>
              <a:buNone/>
              <a:defRPr sz="2400" b="1">
                <a:solidFill>
                  <a:srgbClr val="0F7964"/>
                </a:solidFill>
                <a:latin typeface="Aptos"/>
                <a:ea typeface="Aptos"/>
                <a:cs typeface="Aptos"/>
              </a:defRPr>
            </a:pPr>
            <a:r>
              <a:rPr sz="2400" b="1">
                <a:solidFill>
                  <a:srgbClr val="0F7964"/>
                </a:solidFill>
                <a:latin typeface="Aptos"/>
                <a:ea typeface="Aptos"/>
                <a:cs typeface="Aptos"/>
              </a:rPr>
              <a:t>Supportive human handoff.</a:t>
            </a:r>
          </a:p>
        </p:txBody>
      </p:sp>
      <p:sp>
        <p:nvSpPr>
          <p:cNvPr id="10" name="revised-decision-frame">
            <a:extLst xmlns:a="http://schemas.openxmlformats.org/drawingml/2006/main">
              <a:ext uri="{FF2B5EF4-FFF2-40B4-BE49-F238E27FC236}">
                <a16:creationId xmlns:a16="http://schemas.microsoft.com/office/drawing/2014/main" id="{1F45BDB4-AB0C-40B8-9BB7-D0E49E230C63}"/>
              </a:ext>
            </a:extLst>
          </p:cNvPr>
          <p:cNvSpPr>
            <a:spLocks xmlns:a="http://schemas.openxmlformats.org/drawingml/2006/main" noGrp="1"/>
          </p:cNvSpPr>
          <p:nvPr/>
        </p:nvSpPr>
        <p:spPr>
          <a:xfrm xmlns:a="http://schemas.openxmlformats.org/drawingml/2006/main">
            <a:off x="5562600" y="2095500"/>
            <a:ext cx="6029325" cy="3810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CDDBD4"/>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58c17631d4e4244"/>
          <a:stretch xmlns:a="http://schemas.openxmlformats.org/drawingml/2006/main"/>
        </p:blipFill>
        <p:spPr>
          <a:xfrm xmlns:a="http://schemas.openxmlformats.org/drawingml/2006/main">
            <a:off x="6072916" y="2105025"/>
            <a:ext cx="5008693" cy="3790950"/>
          </a:xfrm>
          <a:prstGeom xmlns:a="http://schemas.openxmlformats.org/drawingml/2006/main" prst="rect">
            <a:avLst/>
          </a:prstGeom>
        </p:spPr>
      </p:pic>
      <p:sp>
        <p:nvSpPr>
          <p:cNvPr id="12" name="workflow-scope">
            <a:extLst xmlns:a="http://schemas.openxmlformats.org/drawingml/2006/main">
              <a:ext uri="{FF2B5EF4-FFF2-40B4-BE49-F238E27FC236}">
                <a16:creationId xmlns:a16="http://schemas.microsoft.com/office/drawing/2014/main" id="{716CC5D3-75FD-4926-99C7-73FD081A99E2}"/>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537269"/>
                </a:solidFill>
                <a:latin typeface="Aptos"/>
                <a:ea typeface="Aptos"/>
                <a:cs typeface="Aptos"/>
              </a:defRPr>
            </a:pPr>
            <a:r>
              <a:rPr sz="1575" b="0">
                <a:solidFill>
                  <a:srgbClr val="537269"/>
                </a:solidFill>
                <a:latin typeface="Aptos"/>
                <a:ea typeface="Aptos"/>
                <a:cs typeface="Aptos"/>
              </a:rPr>
              <a:t>Actual hosted browser rehearsal · no telephone call or loan executed</a:t>
            </a:r>
          </a:p>
        </p:txBody>
      </p:sp>
    </p:spTree>
    <p:extLst>
      <p:ext uri="{BB962C8B-B14F-4D97-AF65-F5344CB8AC3E}">
        <p14:creationId xmlns:p14="http://schemas.microsoft.com/office/powerpoint/2010/main" val="1064159009"/>
      </p:ext>
    </p:extLst>
  </p:cSld>
</p:sld>
</file>

<file path=ppt/slides/slide7.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1" name="s7-eyebrow">
            <a:extLst xmlns:a="http://schemas.openxmlformats.org/drawingml/2006/main">
              <a:ext uri="{FF2B5EF4-FFF2-40B4-BE49-F238E27FC236}">
                <a16:creationId xmlns:a16="http://schemas.microsoft.com/office/drawing/2014/main" id="{8A9753E3-B5DA-4FD4-BE08-11E24C084866}"/>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F7964"/>
                </a:solidFill>
                <a:latin typeface="Aptos"/>
                <a:ea typeface="Aptos"/>
                <a:cs typeface="Aptos"/>
              </a:defRPr>
            </a:pPr>
            <a:r>
              <a:rPr sz="1200" b="1">
                <a:solidFill>
                  <a:srgbClr val="0F7964"/>
                </a:solidFill>
                <a:latin typeface="Aptos"/>
                <a:ea typeface="Aptos"/>
                <a:cs typeface="Aptos"/>
              </a:rPr>
              <a:t>SAMVAAD360 / LENDING</a:t>
            </a:r>
          </a:p>
        </p:txBody>
      </p:sp>
      <p:sp>
        <p:nvSpPr>
          <p:cNvPr id="2" name="s7-title">
            <a:extLst xmlns:a="http://schemas.openxmlformats.org/drawingml/2006/main">
              <a:ext uri="{FF2B5EF4-FFF2-40B4-BE49-F238E27FC236}">
                <a16:creationId xmlns:a16="http://schemas.microsoft.com/office/drawing/2014/main" id="{B6B0D7F6-A5C1-4A78-A303-3BEBC70756B4}"/>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43D35"/>
                </a:solidFill>
                <a:latin typeface="Aptos"/>
                <a:ea typeface="Aptos"/>
                <a:cs typeface="Aptos"/>
              </a:defRPr>
            </a:pPr>
            <a:r>
              <a:rPr sz="3600" b="1">
                <a:solidFill>
                  <a:srgbClr val="143D35"/>
                </a:solidFill>
                <a:latin typeface="Aptos"/>
                <a:ea typeface="Aptos"/>
                <a:cs typeface="Aptos"/>
              </a:rPr>
              <a:t>Customer data enters through a reviewed flow.</a:t>
            </a:r>
          </a:p>
        </p:txBody>
      </p:sp>
      <p:sp>
        <p:nvSpPr>
          <p:cNvPr id="3" name="s7-footer-rule">
            <a:extLst xmlns:a="http://schemas.openxmlformats.org/drawingml/2006/main">
              <a:ext uri="{FF2B5EF4-FFF2-40B4-BE49-F238E27FC236}">
                <a16:creationId xmlns:a16="http://schemas.microsoft.com/office/drawing/2014/main" id="{BB227F40-8ACF-4877-8877-B694065FC165}"/>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4" name="s7-footer">
            <a:extLst xmlns:a="http://schemas.openxmlformats.org/drawingml/2006/main">
              <a:ext uri="{FF2B5EF4-FFF2-40B4-BE49-F238E27FC236}">
                <a16:creationId xmlns:a16="http://schemas.microsoft.com/office/drawing/2014/main" id="{353CD23F-CB40-4B9B-8679-1BD55DA05C6D}"/>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537269"/>
                </a:solidFill>
                <a:latin typeface="Aptos"/>
                <a:ea typeface="Aptos"/>
                <a:cs typeface="Aptos"/>
              </a:defRPr>
            </a:pPr>
            <a:r>
              <a:rPr sz="1125" b="0">
                <a:solidFill>
                  <a:srgbClr val="537269"/>
                </a:solidFill>
                <a:latin typeface="Aptos"/>
                <a:ea typeface="Aptos"/>
                <a:cs typeface="Aptos"/>
              </a:rPr>
              <a:t>Samvaad360 · Customer 360 + Next Best Action · Synthetic lending prototype</a:t>
            </a:r>
          </a:p>
        </p:txBody>
      </p:sp>
      <p:sp>
        <p:nvSpPr>
          <p:cNvPr id="5" name="s7-number">
            <a:extLst xmlns:a="http://schemas.openxmlformats.org/drawingml/2006/main">
              <a:ext uri="{FF2B5EF4-FFF2-40B4-BE49-F238E27FC236}">
                <a16:creationId xmlns:a16="http://schemas.microsoft.com/office/drawing/2014/main" id="{7369B51E-7E28-4ACD-AC23-DBCEE42F3AFC}"/>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537269"/>
                </a:solidFill>
                <a:latin typeface="Aptos"/>
                <a:ea typeface="Aptos"/>
                <a:cs typeface="Aptos"/>
              </a:defRPr>
            </a:pPr>
            <a:r>
              <a:rPr sz="1275" b="0">
                <a:solidFill>
                  <a:srgbClr val="537269"/>
                </a:solidFill>
                <a:latin typeface="Aptos"/>
                <a:ea typeface="Aptos"/>
                <a:cs typeface="Aptos"/>
              </a:rPr>
              <a:t>07</a:t>
            </a:r>
          </a:p>
        </p:txBody>
      </p:sp>
      <p:sp>
        <p:nvSpPr>
          <p:cNvPr id="6" name="sync-screen-frame">
            <a:extLst xmlns:a="http://schemas.openxmlformats.org/drawingml/2006/main">
              <a:ext uri="{FF2B5EF4-FFF2-40B4-BE49-F238E27FC236}">
                <a16:creationId xmlns:a16="http://schemas.microsoft.com/office/drawing/2014/main" id="{47F12715-E08F-4777-BAD9-4742EFF49FD7}"/>
              </a:ext>
            </a:extLst>
          </p:cNvPr>
          <p:cNvSpPr>
            <a:spLocks xmlns:a="http://schemas.openxmlformats.org/drawingml/2006/main" noGrp="1"/>
          </p:cNvSpPr>
          <p:nvPr/>
        </p:nvSpPr>
        <p:spPr>
          <a:xfrm xmlns:a="http://schemas.openxmlformats.org/drawingml/2006/main">
            <a:off x="600075" y="2085975"/>
            <a:ext cx="6610350" cy="4019550"/>
          </a:xfrm>
          <a:prstGeom xmlns:a="http://schemas.openxmlformats.org/drawingml/2006/main" prst="roundRect">
            <a:avLst>
              <a:gd name="adj" fmla="val 2370"/>
            </a:avLst>
          </a:prstGeom>
          <a:solidFill xmlns:a="http://schemas.openxmlformats.org/drawingml/2006/main">
            <a:srgbClr val="FFFFFF"/>
          </a:solidFill>
          <a:ln xmlns:a="http://schemas.openxmlformats.org/drawingml/2006/main" w="9525">
            <a:solidFill>
              <a:srgbClr val="CDDBD4"/>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2a67453722f4b98"/>
          <a:stretch xmlns:a="http://schemas.openxmlformats.org/drawingml/2006/main"/>
        </p:blipFill>
        <p:spPr>
          <a:xfrm xmlns:a="http://schemas.openxmlformats.org/drawingml/2006/main">
            <a:off x="609600" y="2100775"/>
            <a:ext cx="6591300" cy="3989950"/>
          </a:xfrm>
          <a:prstGeom xmlns:a="http://schemas.openxmlformats.org/drawingml/2006/main" prst="rect">
            <a:avLst/>
          </a:prstGeom>
        </p:spPr>
      </p:pic>
      <p:sp>
        <p:nvSpPr>
          <p:cNvPr id="8" name="sync-steps">
            <a:extLst xmlns:a="http://schemas.openxmlformats.org/drawingml/2006/main">
              <a:ext uri="{FF2B5EF4-FFF2-40B4-BE49-F238E27FC236}">
                <a16:creationId xmlns:a16="http://schemas.microsoft.com/office/drawing/2014/main" id="{D222C2F8-DC55-4352-9754-54B9AB0896F1}"/>
              </a:ext>
            </a:extLst>
          </p:cNvPr>
          <p:cNvSpPr>
            <a:spLocks xmlns:a="http://schemas.openxmlformats.org/drawingml/2006/main" noGrp="1"/>
          </p:cNvSpPr>
          <p:nvPr/>
        </p:nvSpPr>
        <p:spPr>
          <a:xfrm xmlns:a="http://schemas.openxmlformats.org/drawingml/2006/main">
            <a:off x="7620000" y="2095500"/>
            <a:ext cx="3952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143D35"/>
                </a:solidFill>
                <a:latin typeface="Aptos"/>
                <a:ea typeface="Aptos"/>
                <a:cs typeface="Aptos"/>
              </a:defRPr>
            </a:pPr>
            <a:r>
              <a:rPr sz="2325" b="1">
                <a:solidFill>
                  <a:srgbClr val="143D35"/>
                </a:solidFill>
                <a:latin typeface="Aptos"/>
                <a:ea typeface="Aptos"/>
                <a:cs typeface="Aptos"/>
              </a:rPr>
              <a:t>Capture → Preview → Review → Customer 360</a:t>
            </a:r>
          </a:p>
        </p:txBody>
      </p:sp>
      <p:sp>
        <p:nvSpPr>
          <p:cNvPr id="9" name="sync-body">
            <a:extLst xmlns:a="http://schemas.openxmlformats.org/drawingml/2006/main">
              <a:ext uri="{FF2B5EF4-FFF2-40B4-BE49-F238E27FC236}">
                <a16:creationId xmlns:a16="http://schemas.microsoft.com/office/drawing/2014/main" id="{FF1A58B8-9768-42E6-8831-E96F740585FE}"/>
              </a:ext>
            </a:extLst>
          </p:cNvPr>
          <p:cNvSpPr>
            <a:spLocks xmlns:a="http://schemas.openxmlformats.org/drawingml/2006/main" noGrp="1"/>
          </p:cNvSpPr>
          <p:nvPr/>
        </p:nvSpPr>
        <p:spPr>
          <a:xfrm xmlns:a="http://schemas.openxmlformats.org/drawingml/2006/main">
            <a:off x="7620000" y="3200400"/>
            <a:ext cx="390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37269"/>
                </a:solidFill>
                <a:latin typeface="Aptos"/>
                <a:ea typeface="Aptos"/>
                <a:cs typeface="Aptos"/>
              </a:defRPr>
            </a:pPr>
            <a:r>
              <a:rPr sz="1875" b="0">
                <a:solidFill>
                  <a:srgbClr val="537269"/>
                </a:solidFill>
                <a:latin typeface="Aptos"/>
                <a:ea typeface="Aptos"/>
                <a:cs typeface="Aptos"/>
              </a:rPr>
              <a:t>Customer, loan, payment and conversation records join through source IDs and versions.</a:t>
            </a:r>
          </a:p>
        </p:txBody>
      </p:sp>
      <p:sp>
        <p:nvSpPr>
          <p:cNvPr id="10" name="sync-body-2">
            <a:extLst xmlns:a="http://schemas.openxmlformats.org/drawingml/2006/main">
              <a:ext uri="{FF2B5EF4-FFF2-40B4-BE49-F238E27FC236}">
                <a16:creationId xmlns:a16="http://schemas.microsoft.com/office/drawing/2014/main" id="{DADD660A-9EF0-4E23-B07C-1DE14717381B}"/>
              </a:ext>
            </a:extLst>
          </p:cNvPr>
          <p:cNvSpPr>
            <a:spLocks xmlns:a="http://schemas.openxmlformats.org/drawingml/2006/main" noGrp="1"/>
          </p:cNvSpPr>
          <p:nvPr/>
        </p:nvSpPr>
        <p:spPr>
          <a:xfrm xmlns:a="http://schemas.openxmlformats.org/drawingml/2006/main">
            <a:off x="7620000" y="4610100"/>
            <a:ext cx="3905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0">
                <a:solidFill>
                  <a:srgbClr val="537269"/>
                </a:solidFill>
                <a:latin typeface="Aptos"/>
                <a:ea typeface="Aptos"/>
                <a:cs typeface="Aptos"/>
              </a:defRPr>
            </a:pPr>
            <a:r>
              <a:rPr sz="1875" b="0">
                <a:solidFill>
                  <a:srgbClr val="537269"/>
                </a:solidFill>
                <a:latin typeface="Aptos"/>
                <a:ea typeface="Aptos"/>
                <a:cs typeface="Aptos"/>
              </a:rPr>
              <a:t>A clean import is applied explicitly. Conflicts block the batch; a replay does not duplicate it.</a:t>
            </a:r>
          </a:p>
        </p:txBody>
      </p:sp>
    </p:spTree>
    <p:extLst>
      <p:ext uri="{BB962C8B-B14F-4D97-AF65-F5344CB8AC3E}">
        <p14:creationId xmlns:p14="http://schemas.microsoft.com/office/powerpoint/2010/main" val="853492525"/>
      </p:ext>
    </p:extLst>
  </p:cSld>
</p:sld>
</file>

<file path=ppt/slides/slide8.xml><?xml version="1.0" encoding="utf-8"?>
<p:sld xmlns:p="http://schemas.openxmlformats.org/presentationml/2006/main">
  <p:cSld>
    <p:bg>
      <p:bgPr>
        <a:solidFill xmlns:a="http://schemas.openxmlformats.org/drawingml/2006/main">
          <a:srgbClr val="143D35"/>
        </a:solidFill>
      </p:bgPr>
    </p:bg>
    <p:spTree>
      <p:nvGrpSpPr>
        <p:cNvPr id="1" name=""/>
        <p:cNvGrpSpPr/>
        <p:nvPr/>
      </p:nvGrpSpPr>
      <p:grpSpPr>
        <a:xfrm xmlns:a="http://schemas.openxmlformats.org/drawingml/2006/main"/>
      </p:grpSpPr>
      <p:sp>
        <p:nvSpPr>
          <p:cNvPr id="17" name="s8-eyebrow">
            <a:extLst xmlns:a="http://schemas.openxmlformats.org/drawingml/2006/main">
              <a:ext uri="{FF2B5EF4-FFF2-40B4-BE49-F238E27FC236}">
                <a16:creationId xmlns:a16="http://schemas.microsoft.com/office/drawing/2014/main" id="{98838786-7057-4FFB-881C-F99AA816260A}"/>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DDEEE4"/>
                </a:solidFill>
                <a:latin typeface="Aptos"/>
                <a:ea typeface="Aptos"/>
                <a:cs typeface="Aptos"/>
              </a:defRPr>
            </a:pPr>
            <a:r>
              <a:rPr sz="1200" b="1">
                <a:solidFill>
                  <a:srgbClr val="DDEEE4"/>
                </a:solidFill>
                <a:latin typeface="Aptos"/>
                <a:ea typeface="Aptos"/>
                <a:cs typeface="Aptos"/>
              </a:rPr>
              <a:t>ENTERPRISE CONTROLS / IMPLEMENTED PROTOTYPE</a:t>
            </a:r>
          </a:p>
        </p:txBody>
      </p:sp>
      <p:sp>
        <p:nvSpPr>
          <p:cNvPr id="2" name="s8-title">
            <a:extLst xmlns:a="http://schemas.openxmlformats.org/drawingml/2006/main">
              <a:ext uri="{FF2B5EF4-FFF2-40B4-BE49-F238E27FC236}">
                <a16:creationId xmlns:a16="http://schemas.microsoft.com/office/drawing/2014/main" id="{68547F68-B770-4D44-AAB8-5A1E7D0DED42}"/>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5F7F3"/>
                </a:solidFill>
                <a:latin typeface="Aptos"/>
                <a:ea typeface="Aptos"/>
                <a:cs typeface="Aptos"/>
              </a:defRPr>
            </a:pPr>
            <a:r>
              <a:rPr sz="3600" b="1">
                <a:solidFill>
                  <a:srgbClr val="F5F7F3"/>
                </a:solidFill>
                <a:latin typeface="Aptos"/>
                <a:ea typeface="Aptos"/>
                <a:cs typeface="Aptos"/>
              </a:rPr>
              <a:t>Useful actions need enforceable limits.</a:t>
            </a:r>
          </a:p>
        </p:txBody>
      </p:sp>
      <p:sp>
        <p:nvSpPr>
          <p:cNvPr id="3" name="s8-footer-rule">
            <a:extLst xmlns:a="http://schemas.openxmlformats.org/drawingml/2006/main">
              <a:ext uri="{FF2B5EF4-FFF2-40B4-BE49-F238E27FC236}">
                <a16:creationId xmlns:a16="http://schemas.microsoft.com/office/drawing/2014/main" id="{D5E68051-273E-46D9-B5A8-D8F6BA80C546}"/>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47675E"/>
          </a:solidFill>
          <a:ln xmlns:a="http://schemas.openxmlformats.org/drawingml/2006/main" w="0">
            <a:noFill/>
            <a:prstDash val="solid"/>
          </a:ln>
        </p:spPr>
      </p:sp>
      <p:sp>
        <p:nvSpPr>
          <p:cNvPr id="4" name="s8-footer">
            <a:extLst xmlns:a="http://schemas.openxmlformats.org/drawingml/2006/main">
              <a:ext uri="{FF2B5EF4-FFF2-40B4-BE49-F238E27FC236}">
                <a16:creationId xmlns:a16="http://schemas.microsoft.com/office/drawing/2014/main" id="{FDC6229D-D5F1-421E-8A07-65853DF3D748}"/>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DDEEE4"/>
                </a:solidFill>
                <a:latin typeface="Aptos"/>
                <a:ea typeface="Aptos"/>
                <a:cs typeface="Aptos"/>
              </a:defRPr>
            </a:pPr>
            <a:r>
              <a:rPr sz="1125" b="0">
                <a:solidFill>
                  <a:srgbClr val="DDEEE4"/>
                </a:solidFill>
                <a:latin typeface="Aptos"/>
                <a:ea typeface="Aptos"/>
                <a:cs typeface="Aptos"/>
              </a:rPr>
              <a:t>Samvaad360 · Customer 360 + Next Best Action · Synthetic lending prototype</a:t>
            </a:r>
          </a:p>
        </p:txBody>
      </p:sp>
      <p:sp>
        <p:nvSpPr>
          <p:cNvPr id="5" name="s8-number">
            <a:extLst xmlns:a="http://schemas.openxmlformats.org/drawingml/2006/main">
              <a:ext uri="{FF2B5EF4-FFF2-40B4-BE49-F238E27FC236}">
                <a16:creationId xmlns:a16="http://schemas.microsoft.com/office/drawing/2014/main" id="{656D328D-403A-49D5-826B-6F464965048A}"/>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DDEEE4"/>
                </a:solidFill>
                <a:latin typeface="Aptos"/>
                <a:ea typeface="Aptos"/>
                <a:cs typeface="Aptos"/>
              </a:defRPr>
            </a:pPr>
            <a:r>
              <a:rPr sz="1275" b="0">
                <a:solidFill>
                  <a:srgbClr val="DDEEE4"/>
                </a:solidFill>
                <a:latin typeface="Aptos"/>
                <a:ea typeface="Aptos"/>
                <a:cs typeface="Aptos"/>
              </a:rPr>
              <a:t>08</a:t>
            </a:r>
          </a:p>
        </p:txBody>
      </p:sp>
      <p:sp>
        <p:nvSpPr>
          <p:cNvPr id="6" name="row-1-num">
            <a:extLst xmlns:a="http://schemas.openxmlformats.org/drawingml/2006/main">
              <a:ext uri="{FF2B5EF4-FFF2-40B4-BE49-F238E27FC236}">
                <a16:creationId xmlns:a16="http://schemas.microsoft.com/office/drawing/2014/main" id="{5E67905C-4C7C-42C5-B5B2-E9BDC31510BF}"/>
              </a:ext>
            </a:extLst>
          </p:cNvPr>
          <p:cNvSpPr>
            <a:spLocks xmlns:a="http://schemas.openxmlformats.org/drawingml/2006/main" noGrp="1"/>
          </p:cNvSpPr>
          <p:nvPr/>
        </p:nvSpPr>
        <p:spPr>
          <a:xfrm xmlns:a="http://schemas.openxmlformats.org/drawingml/2006/main">
            <a:off x="609600" y="2133600"/>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C6AF75"/>
                </a:solidFill>
                <a:latin typeface="Aptos"/>
                <a:ea typeface="Aptos"/>
                <a:cs typeface="Aptos"/>
              </a:defRPr>
            </a:pPr>
            <a:r>
              <a:rPr sz="2175" b="1">
                <a:solidFill>
                  <a:srgbClr val="C6AF75"/>
                </a:solidFill>
                <a:latin typeface="Aptos"/>
                <a:ea typeface="Aptos"/>
                <a:cs typeface="Aptos"/>
              </a:rPr>
              <a:t>01</a:t>
            </a:r>
          </a:p>
        </p:txBody>
      </p:sp>
      <p:sp>
        <p:nvSpPr>
          <p:cNvPr id="7" name="row-1-head">
            <a:extLst xmlns:a="http://schemas.openxmlformats.org/drawingml/2006/main">
              <a:ext uri="{FF2B5EF4-FFF2-40B4-BE49-F238E27FC236}">
                <a16:creationId xmlns:a16="http://schemas.microsoft.com/office/drawing/2014/main" id="{B421FC0E-0D26-4D88-88AC-B53F5C7DB79A}"/>
              </a:ext>
            </a:extLst>
          </p:cNvPr>
          <p:cNvSpPr>
            <a:spLocks xmlns:a="http://schemas.openxmlformats.org/drawingml/2006/main" noGrp="1"/>
          </p:cNvSpPr>
          <p:nvPr/>
        </p:nvSpPr>
        <p:spPr>
          <a:xfrm xmlns:a="http://schemas.openxmlformats.org/drawingml/2006/main">
            <a:off x="1276350" y="21336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F5F7F3"/>
                </a:solidFill>
                <a:latin typeface="Aptos"/>
                <a:ea typeface="Aptos"/>
                <a:cs typeface="Aptos"/>
              </a:defRPr>
            </a:pPr>
            <a:r>
              <a:rPr sz="2400" b="1">
                <a:solidFill>
                  <a:srgbClr val="F5F7F3"/>
                </a:solidFill>
                <a:latin typeface="Aptos"/>
                <a:ea typeface="Aptos"/>
                <a:cs typeface="Aptos"/>
              </a:rPr>
              <a:t>Protect compute</a:t>
            </a:r>
          </a:p>
        </p:txBody>
      </p:sp>
      <p:sp>
        <p:nvSpPr>
          <p:cNvPr id="8" name="row-1-body">
            <a:extLst xmlns:a="http://schemas.openxmlformats.org/drawingml/2006/main">
              <a:ext uri="{FF2B5EF4-FFF2-40B4-BE49-F238E27FC236}">
                <a16:creationId xmlns:a16="http://schemas.microsoft.com/office/drawing/2014/main" id="{DE08B8D8-9C1F-4C61-9A14-5C4FF02A4E55}"/>
              </a:ext>
            </a:extLst>
          </p:cNvPr>
          <p:cNvSpPr>
            <a:spLocks xmlns:a="http://schemas.openxmlformats.org/drawingml/2006/main" noGrp="1"/>
          </p:cNvSpPr>
          <p:nvPr/>
        </p:nvSpPr>
        <p:spPr>
          <a:xfrm xmlns:a="http://schemas.openxmlformats.org/drawingml/2006/main">
            <a:off x="1276350" y="25812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DDEEE4"/>
                </a:solidFill>
                <a:latin typeface="Aptos"/>
                <a:ea typeface="Aptos"/>
                <a:cs typeface="Aptos"/>
              </a:defRPr>
            </a:pPr>
            <a:r>
              <a:rPr sz="1725" b="0">
                <a:solidFill>
                  <a:srgbClr val="DDEEE4"/>
                </a:solidFill>
                <a:latin typeface="Aptos"/>
                <a:ea typeface="Aptos"/>
                <a:cs typeface="Aptos"/>
              </a:rPr>
              <a:t>Shared snapshot, fixed SQL and query reservations.</a:t>
            </a:r>
          </a:p>
        </p:txBody>
      </p:sp>
      <p:sp>
        <p:nvSpPr>
          <p:cNvPr id="9" name="row-2-num">
            <a:extLst xmlns:a="http://schemas.openxmlformats.org/drawingml/2006/main">
              <a:ext uri="{FF2B5EF4-FFF2-40B4-BE49-F238E27FC236}">
                <a16:creationId xmlns:a16="http://schemas.microsoft.com/office/drawing/2014/main" id="{FA54BC80-223F-4C2E-8E92-342A5FC3BAB6}"/>
              </a:ext>
            </a:extLst>
          </p:cNvPr>
          <p:cNvSpPr>
            <a:spLocks xmlns:a="http://schemas.openxmlformats.org/drawingml/2006/main" noGrp="1"/>
          </p:cNvSpPr>
          <p:nvPr/>
        </p:nvSpPr>
        <p:spPr>
          <a:xfrm xmlns:a="http://schemas.openxmlformats.org/drawingml/2006/main">
            <a:off x="609600" y="343852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C6AF75"/>
                </a:solidFill>
                <a:latin typeface="Aptos"/>
                <a:ea typeface="Aptos"/>
                <a:cs typeface="Aptos"/>
              </a:defRPr>
            </a:pPr>
            <a:r>
              <a:rPr sz="2175" b="1">
                <a:solidFill>
                  <a:srgbClr val="C6AF75"/>
                </a:solidFill>
                <a:latin typeface="Aptos"/>
                <a:ea typeface="Aptos"/>
                <a:cs typeface="Aptos"/>
              </a:rPr>
              <a:t>02</a:t>
            </a:r>
          </a:p>
        </p:txBody>
      </p:sp>
      <p:sp>
        <p:nvSpPr>
          <p:cNvPr id="10" name="row-2-head">
            <a:extLst xmlns:a="http://schemas.openxmlformats.org/drawingml/2006/main">
              <a:ext uri="{FF2B5EF4-FFF2-40B4-BE49-F238E27FC236}">
                <a16:creationId xmlns:a16="http://schemas.microsoft.com/office/drawing/2014/main" id="{F82EDAC5-513E-4F24-9293-82D360004BAD}"/>
              </a:ext>
            </a:extLst>
          </p:cNvPr>
          <p:cNvSpPr>
            <a:spLocks xmlns:a="http://schemas.openxmlformats.org/drawingml/2006/main" noGrp="1"/>
          </p:cNvSpPr>
          <p:nvPr/>
        </p:nvSpPr>
        <p:spPr>
          <a:xfrm xmlns:a="http://schemas.openxmlformats.org/drawingml/2006/main">
            <a:off x="1276350" y="34385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F5F7F3"/>
                </a:solidFill>
                <a:latin typeface="Aptos"/>
                <a:ea typeface="Aptos"/>
                <a:cs typeface="Aptos"/>
              </a:defRPr>
            </a:pPr>
            <a:r>
              <a:rPr sz="2400" b="1">
                <a:solidFill>
                  <a:srgbClr val="F5F7F3"/>
                </a:solidFill>
                <a:latin typeface="Aptos"/>
                <a:ea typeface="Aptos"/>
                <a:cs typeface="Aptos"/>
              </a:rPr>
              <a:t>Protect the relationship</a:t>
            </a:r>
          </a:p>
        </p:txBody>
      </p:sp>
      <p:sp>
        <p:nvSpPr>
          <p:cNvPr id="11" name="row-2-body">
            <a:extLst xmlns:a="http://schemas.openxmlformats.org/drawingml/2006/main">
              <a:ext uri="{FF2B5EF4-FFF2-40B4-BE49-F238E27FC236}">
                <a16:creationId xmlns:a16="http://schemas.microsoft.com/office/drawing/2014/main" id="{0872EDAF-ADB4-4CC9-8C9F-05052061969B}"/>
              </a:ext>
            </a:extLst>
          </p:cNvPr>
          <p:cNvSpPr>
            <a:spLocks xmlns:a="http://schemas.openxmlformats.org/drawingml/2006/main" noGrp="1"/>
          </p:cNvSpPr>
          <p:nvPr/>
        </p:nvSpPr>
        <p:spPr>
          <a:xfrm xmlns:a="http://schemas.openxmlformats.org/drawingml/2006/main">
            <a:off x="1276350" y="38862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DDEEE4"/>
                </a:solidFill>
                <a:latin typeface="Aptos"/>
                <a:ea typeface="Aptos"/>
                <a:cs typeface="Aptos"/>
              </a:defRPr>
            </a:pPr>
            <a:r>
              <a:rPr sz="1725" b="0">
                <a:solidFill>
                  <a:srgbClr val="DDEEE4"/>
                </a:solidFill>
                <a:latin typeface="Aptos"/>
                <a:ea typeface="Aptos"/>
                <a:cs typeface="Aptos"/>
              </a:rPr>
              <a:t>Consent, DND, hardship and approval gates.</a:t>
            </a:r>
          </a:p>
        </p:txBody>
      </p:sp>
      <p:sp>
        <p:nvSpPr>
          <p:cNvPr id="12" name="row-3-num">
            <a:extLst xmlns:a="http://schemas.openxmlformats.org/drawingml/2006/main">
              <a:ext uri="{FF2B5EF4-FFF2-40B4-BE49-F238E27FC236}">
                <a16:creationId xmlns:a16="http://schemas.microsoft.com/office/drawing/2014/main" id="{CE83D820-350C-4468-8FC9-8F8FE4166E70}"/>
              </a:ext>
            </a:extLst>
          </p:cNvPr>
          <p:cNvSpPr>
            <a:spLocks xmlns:a="http://schemas.openxmlformats.org/drawingml/2006/main" noGrp="1"/>
          </p:cNvSpPr>
          <p:nvPr/>
        </p:nvSpPr>
        <p:spPr>
          <a:xfrm xmlns:a="http://schemas.openxmlformats.org/drawingml/2006/main">
            <a:off x="609600" y="4743450"/>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C6AF75"/>
                </a:solidFill>
                <a:latin typeface="Aptos"/>
                <a:ea typeface="Aptos"/>
                <a:cs typeface="Aptos"/>
              </a:defRPr>
            </a:pPr>
            <a:r>
              <a:rPr sz="2175" b="1">
                <a:solidFill>
                  <a:srgbClr val="C6AF75"/>
                </a:solidFill>
                <a:latin typeface="Aptos"/>
                <a:ea typeface="Aptos"/>
                <a:cs typeface="Aptos"/>
              </a:rPr>
              <a:t>03</a:t>
            </a:r>
          </a:p>
        </p:txBody>
      </p:sp>
      <p:sp>
        <p:nvSpPr>
          <p:cNvPr id="13" name="row-3-head">
            <a:extLst xmlns:a="http://schemas.openxmlformats.org/drawingml/2006/main">
              <a:ext uri="{FF2B5EF4-FFF2-40B4-BE49-F238E27FC236}">
                <a16:creationId xmlns:a16="http://schemas.microsoft.com/office/drawing/2014/main" id="{DE4BB1D8-6856-4AE6-8061-6BBC6988D6C7}"/>
              </a:ext>
            </a:extLst>
          </p:cNvPr>
          <p:cNvSpPr>
            <a:spLocks xmlns:a="http://schemas.openxmlformats.org/drawingml/2006/main" noGrp="1"/>
          </p:cNvSpPr>
          <p:nvPr/>
        </p:nvSpPr>
        <p:spPr>
          <a:xfrm xmlns:a="http://schemas.openxmlformats.org/drawingml/2006/main">
            <a:off x="1276350" y="47434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F5F7F3"/>
                </a:solidFill>
                <a:latin typeface="Aptos"/>
                <a:ea typeface="Aptos"/>
                <a:cs typeface="Aptos"/>
              </a:defRPr>
            </a:pPr>
            <a:r>
              <a:rPr sz="2400" b="1">
                <a:solidFill>
                  <a:srgbClr val="F5F7F3"/>
                </a:solidFill>
                <a:latin typeface="Aptos"/>
                <a:ea typeface="Aptos"/>
                <a:cs typeface="Aptos"/>
              </a:rPr>
              <a:t>Protect execution</a:t>
            </a:r>
          </a:p>
        </p:txBody>
      </p:sp>
      <p:sp>
        <p:nvSpPr>
          <p:cNvPr id="14" name="row-3-body">
            <a:extLst xmlns:a="http://schemas.openxmlformats.org/drawingml/2006/main">
              <a:ext uri="{FF2B5EF4-FFF2-40B4-BE49-F238E27FC236}">
                <a16:creationId xmlns:a16="http://schemas.microsoft.com/office/drawing/2014/main" id="{DDB7850B-1090-430D-A5DD-DEEA1B9FE889}"/>
              </a:ext>
            </a:extLst>
          </p:cNvPr>
          <p:cNvSpPr>
            <a:spLocks xmlns:a="http://schemas.openxmlformats.org/drawingml/2006/main" noGrp="1"/>
          </p:cNvSpPr>
          <p:nvPr/>
        </p:nvSpPr>
        <p:spPr>
          <a:xfrm xmlns:a="http://schemas.openxmlformats.org/drawingml/2006/main">
            <a:off x="1276350" y="519112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DDEEE4"/>
                </a:solidFill>
                <a:latin typeface="Aptos"/>
                <a:ea typeface="Aptos"/>
                <a:cs typeface="Aptos"/>
              </a:defRPr>
            </a:pPr>
            <a:r>
              <a:rPr sz="1725" b="0">
                <a:solidFill>
                  <a:srgbClr val="DDEEE4"/>
                </a:solidFill>
                <a:latin typeface="Aptos"/>
                <a:ea typeface="Aptos"/>
                <a:cs typeface="Aptos"/>
              </a:rPr>
              <a:t>Scoped portal links, idempotency and audit records.</a:t>
            </a:r>
          </a:p>
        </p:txBody>
      </p:sp>
      <p:sp>
        <p:nvSpPr>
          <p:cNvPr id="15" name="usage-screen-frame">
            <a:extLst xmlns:a="http://schemas.openxmlformats.org/drawingml/2006/main">
              <a:ext uri="{FF2B5EF4-FFF2-40B4-BE49-F238E27FC236}">
                <a16:creationId xmlns:a16="http://schemas.microsoft.com/office/drawing/2014/main" id="{13A4BB65-6AB7-47FB-859B-614C2139A9A4}"/>
              </a:ext>
            </a:extLst>
          </p:cNvPr>
          <p:cNvSpPr>
            <a:spLocks xmlns:a="http://schemas.openxmlformats.org/drawingml/2006/main" noGrp="1"/>
          </p:cNvSpPr>
          <p:nvPr/>
        </p:nvSpPr>
        <p:spPr>
          <a:xfrm xmlns:a="http://schemas.openxmlformats.org/drawingml/2006/main">
            <a:off x="6324600" y="2181225"/>
            <a:ext cx="5267325" cy="3609975"/>
          </a:xfrm>
          <a:prstGeom xmlns:a="http://schemas.openxmlformats.org/drawingml/2006/main" prst="roundRect">
            <a:avLst>
              <a:gd name="adj" fmla="val 2639"/>
            </a:avLst>
          </a:prstGeom>
          <a:solidFill xmlns:a="http://schemas.openxmlformats.org/drawingml/2006/main">
            <a:srgbClr val="FFFFFF"/>
          </a:solidFill>
          <a:ln xmlns:a="http://schemas.openxmlformats.org/drawingml/2006/main" w="9525">
            <a:solidFill>
              <a:srgbClr val="CDDBD4"/>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387c6da05a54237"/>
          <a:stretch xmlns:a="http://schemas.openxmlformats.org/drawingml/2006/main"/>
        </p:blipFill>
        <p:spPr>
          <a:xfrm xmlns:a="http://schemas.openxmlformats.org/drawingml/2006/main">
            <a:off x="6334125" y="2405493"/>
            <a:ext cx="5248275" cy="3161438"/>
          </a:xfrm>
          <a:prstGeom xmlns:a="http://schemas.openxmlformats.org/drawingml/2006/main" prst="rect">
            <a:avLst/>
          </a:prstGeom>
        </p:spPr>
      </p:pic>
    </p:spTree>
    <p:extLst>
      <p:ext uri="{BB962C8B-B14F-4D97-AF65-F5344CB8AC3E}">
        <p14:creationId xmlns:p14="http://schemas.microsoft.com/office/powerpoint/2010/main" val="2083204834"/>
      </p:ext>
    </p:extLst>
  </p:cSld>
</p:sld>
</file>

<file path=ppt/slides/slide9.xml><?xml version="1.0" encoding="utf-8"?>
<p:sld xmlns:p="http://schemas.openxmlformats.org/presentationml/2006/main">
  <p:cSld>
    <p:bg>
      <p:bgPr>
        <a:solidFill xmlns:a="http://schemas.openxmlformats.org/drawingml/2006/main">
          <a:srgbClr val="F5F7F3"/>
        </a:solidFill>
      </p:bgPr>
    </p:bg>
    <p:spTree>
      <p:nvGrpSpPr>
        <p:cNvPr id="1" name=""/>
        <p:cNvGrpSpPr/>
        <p:nvPr/>
      </p:nvGrpSpPr>
      <p:grpSpPr>
        <a:xfrm xmlns:a="http://schemas.openxmlformats.org/drawingml/2006/main"/>
      </p:grpSpPr>
      <p:sp>
        <p:nvSpPr>
          <p:cNvPr id="17" name="s9-eyebrow">
            <a:extLst xmlns:a="http://schemas.openxmlformats.org/drawingml/2006/main">
              <a:ext uri="{FF2B5EF4-FFF2-40B4-BE49-F238E27FC236}">
                <a16:creationId xmlns:a16="http://schemas.microsoft.com/office/drawing/2014/main" id="{4CDC73FD-744D-42CD-BCBB-FF04075D55F2}"/>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0F7964"/>
                </a:solidFill>
                <a:latin typeface="Aptos"/>
                <a:ea typeface="Aptos"/>
                <a:cs typeface="Aptos"/>
              </a:defRPr>
            </a:pPr>
            <a:r>
              <a:rPr sz="1200" b="1">
                <a:solidFill>
                  <a:srgbClr val="0F7964"/>
                </a:solidFill>
                <a:latin typeface="Aptos"/>
                <a:ea typeface="Aptos"/>
                <a:cs typeface="Aptos"/>
              </a:rPr>
              <a:t>SAMVAAD360 / LENDING</a:t>
            </a:r>
          </a:p>
        </p:txBody>
      </p:sp>
      <p:sp>
        <p:nvSpPr>
          <p:cNvPr id="2" name="s9-title">
            <a:extLst xmlns:a="http://schemas.openxmlformats.org/drawingml/2006/main">
              <a:ext uri="{FF2B5EF4-FFF2-40B4-BE49-F238E27FC236}">
                <a16:creationId xmlns:a16="http://schemas.microsoft.com/office/drawing/2014/main" id="{48C21694-7840-4E2A-910F-162F4EDBF48F}"/>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43D35"/>
                </a:solidFill>
                <a:latin typeface="Aptos"/>
                <a:ea typeface="Aptos"/>
                <a:cs typeface="Aptos"/>
              </a:defRPr>
            </a:pPr>
            <a:r>
              <a:rPr sz="3600" b="1">
                <a:solidFill>
                  <a:srgbClr val="143D35"/>
                </a:solidFill>
                <a:latin typeface="Aptos"/>
                <a:ea typeface="Aptos"/>
                <a:cs typeface="Aptos"/>
              </a:rPr>
              <a:t>Verified workflows. Clear remaining gates.</a:t>
            </a:r>
          </a:p>
        </p:txBody>
      </p:sp>
      <p:sp>
        <p:nvSpPr>
          <p:cNvPr id="3" name="s9-footer-rule">
            <a:extLst xmlns:a="http://schemas.openxmlformats.org/drawingml/2006/main">
              <a:ext uri="{FF2B5EF4-FFF2-40B4-BE49-F238E27FC236}">
                <a16:creationId xmlns:a16="http://schemas.microsoft.com/office/drawing/2014/main" id="{C2BB5A67-1576-4610-A646-34809247F7FD}"/>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4" name="s9-footer">
            <a:extLst xmlns:a="http://schemas.openxmlformats.org/drawingml/2006/main">
              <a:ext uri="{FF2B5EF4-FFF2-40B4-BE49-F238E27FC236}">
                <a16:creationId xmlns:a16="http://schemas.microsoft.com/office/drawing/2014/main" id="{A556D73A-1E37-4F59-AF29-98312652270C}"/>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537269"/>
                </a:solidFill>
                <a:latin typeface="Aptos"/>
                <a:ea typeface="Aptos"/>
                <a:cs typeface="Aptos"/>
              </a:defRPr>
            </a:pPr>
            <a:r>
              <a:rPr sz="1125" b="0">
                <a:solidFill>
                  <a:srgbClr val="537269"/>
                </a:solidFill>
                <a:latin typeface="Aptos"/>
                <a:ea typeface="Aptos"/>
                <a:cs typeface="Aptos"/>
              </a:rPr>
              <a:t>Samvaad360 · Customer 360 + Next Best Action · Synthetic lending prototype</a:t>
            </a:r>
          </a:p>
        </p:txBody>
      </p:sp>
      <p:sp>
        <p:nvSpPr>
          <p:cNvPr id="5" name="s9-number">
            <a:extLst xmlns:a="http://schemas.openxmlformats.org/drawingml/2006/main">
              <a:ext uri="{FF2B5EF4-FFF2-40B4-BE49-F238E27FC236}">
                <a16:creationId xmlns:a16="http://schemas.microsoft.com/office/drawing/2014/main" id="{195C7E88-9B2C-47A1-A00F-833E7150B3A0}"/>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537269"/>
                </a:solidFill>
                <a:latin typeface="Aptos"/>
                <a:ea typeface="Aptos"/>
                <a:cs typeface="Aptos"/>
              </a:defRPr>
            </a:pPr>
            <a:r>
              <a:rPr sz="1275" b="0">
                <a:solidFill>
                  <a:srgbClr val="537269"/>
                </a:solidFill>
                <a:latin typeface="Aptos"/>
                <a:ea typeface="Aptos"/>
                <a:cs typeface="Aptos"/>
              </a:rPr>
              <a:t>09</a:t>
            </a:r>
          </a:p>
        </p:txBody>
      </p:sp>
      <p:sp>
        <p:nvSpPr>
          <p:cNvPr id="6" name="proof-num-0">
            <a:extLst xmlns:a="http://schemas.openxmlformats.org/drawingml/2006/main">
              <a:ext uri="{FF2B5EF4-FFF2-40B4-BE49-F238E27FC236}">
                <a16:creationId xmlns:a16="http://schemas.microsoft.com/office/drawing/2014/main" id="{9D01FE21-E684-41D4-AB5F-F671D488EFD0}"/>
              </a:ext>
            </a:extLst>
          </p:cNvPr>
          <p:cNvSpPr>
            <a:spLocks xmlns:a="http://schemas.openxmlformats.org/drawingml/2006/main" noGrp="1"/>
          </p:cNvSpPr>
          <p:nvPr/>
        </p:nvSpPr>
        <p:spPr>
          <a:xfrm xmlns:a="http://schemas.openxmlformats.org/drawingml/2006/main">
            <a:off x="609600" y="213360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000" b="1">
                <a:solidFill>
                  <a:srgbClr val="0F7964"/>
                </a:solidFill>
                <a:latin typeface="Aptos"/>
                <a:ea typeface="Aptos"/>
                <a:cs typeface="Aptos"/>
              </a:defRPr>
            </a:pPr>
            <a:r>
              <a:rPr sz="6000" b="1">
                <a:solidFill>
                  <a:srgbClr val="0F7964"/>
                </a:solidFill>
                <a:latin typeface="Aptos"/>
                <a:ea typeface="Aptos"/>
                <a:cs typeface="Aptos"/>
              </a:rPr>
              <a:t>557</a:t>
            </a:r>
          </a:p>
        </p:txBody>
      </p:sp>
      <p:sp>
        <p:nvSpPr>
          <p:cNvPr id="7" name="proof-label-0">
            <a:extLst xmlns:a="http://schemas.openxmlformats.org/drawingml/2006/main">
              <a:ext uri="{FF2B5EF4-FFF2-40B4-BE49-F238E27FC236}">
                <a16:creationId xmlns:a16="http://schemas.microsoft.com/office/drawing/2014/main" id="{2CEECFA4-3F9D-48F4-A0C8-D7B5C0A6CA72}"/>
              </a:ext>
            </a:extLst>
          </p:cNvPr>
          <p:cNvSpPr>
            <a:spLocks xmlns:a="http://schemas.openxmlformats.org/drawingml/2006/main" noGrp="1"/>
          </p:cNvSpPr>
          <p:nvPr/>
        </p:nvSpPr>
        <p:spPr>
          <a:xfrm xmlns:a="http://schemas.openxmlformats.org/drawingml/2006/main">
            <a:off x="609600" y="3267075"/>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43D35"/>
                </a:solidFill>
                <a:latin typeface="Aptos"/>
                <a:ea typeface="Aptos"/>
                <a:cs typeface="Aptos"/>
              </a:defRPr>
            </a:pPr>
            <a:r>
              <a:rPr sz="2100" b="1">
                <a:solidFill>
                  <a:srgbClr val="143D35"/>
                </a:solidFill>
                <a:latin typeface="Aptos"/>
                <a:ea typeface="Aptos"/>
                <a:cs typeface="Aptos"/>
              </a:rPr>
              <a:t>Automated tests</a:t>
            </a:r>
          </a:p>
        </p:txBody>
      </p:sp>
      <p:sp>
        <p:nvSpPr>
          <p:cNvPr id="8" name="proof-num-1">
            <a:extLst xmlns:a="http://schemas.openxmlformats.org/drawingml/2006/main">
              <a:ext uri="{FF2B5EF4-FFF2-40B4-BE49-F238E27FC236}">
                <a16:creationId xmlns:a16="http://schemas.microsoft.com/office/drawing/2014/main" id="{E21DEF91-7BEA-45C5-A375-EC3AA9D32CDC}"/>
              </a:ext>
            </a:extLst>
          </p:cNvPr>
          <p:cNvSpPr>
            <a:spLocks xmlns:a="http://schemas.openxmlformats.org/drawingml/2006/main" noGrp="1"/>
          </p:cNvSpPr>
          <p:nvPr/>
        </p:nvSpPr>
        <p:spPr>
          <a:xfrm xmlns:a="http://schemas.openxmlformats.org/drawingml/2006/main">
            <a:off x="4362450" y="213360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000" b="1">
                <a:solidFill>
                  <a:srgbClr val="0F7964"/>
                </a:solidFill>
                <a:latin typeface="Aptos"/>
                <a:ea typeface="Aptos"/>
                <a:cs typeface="Aptos"/>
              </a:defRPr>
            </a:pPr>
            <a:r>
              <a:rPr sz="6000" b="1">
                <a:solidFill>
                  <a:srgbClr val="0F7964"/>
                </a:solidFill>
                <a:latin typeface="Aptos"/>
                <a:ea typeface="Aptos"/>
                <a:cs typeface="Aptos"/>
              </a:rPr>
              <a:t>20</a:t>
            </a:r>
          </a:p>
        </p:txBody>
      </p:sp>
      <p:sp>
        <p:nvSpPr>
          <p:cNvPr id="9" name="proof-label-1">
            <a:extLst xmlns:a="http://schemas.openxmlformats.org/drawingml/2006/main">
              <a:ext uri="{FF2B5EF4-FFF2-40B4-BE49-F238E27FC236}">
                <a16:creationId xmlns:a16="http://schemas.microsoft.com/office/drawing/2014/main" id="{516F6F1E-9CBE-4021-890C-A5E5FCED3755}"/>
              </a:ext>
            </a:extLst>
          </p:cNvPr>
          <p:cNvSpPr>
            <a:spLocks xmlns:a="http://schemas.openxmlformats.org/drawingml/2006/main" noGrp="1"/>
          </p:cNvSpPr>
          <p:nvPr/>
        </p:nvSpPr>
        <p:spPr>
          <a:xfrm xmlns:a="http://schemas.openxmlformats.org/drawingml/2006/main">
            <a:off x="4362450" y="3267075"/>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43D35"/>
                </a:solidFill>
                <a:latin typeface="Aptos"/>
                <a:ea typeface="Aptos"/>
                <a:cs typeface="Aptos"/>
              </a:defRPr>
            </a:pPr>
            <a:r>
              <a:rPr sz="2100" b="1">
                <a:solidFill>
                  <a:srgbClr val="143D35"/>
                </a:solidFill>
                <a:latin typeface="Aptos"/>
                <a:ea typeface="Aptos"/>
                <a:cs typeface="Aptos"/>
              </a:rPr>
              <a:t>Hosted browser checks</a:t>
            </a:r>
          </a:p>
        </p:txBody>
      </p:sp>
      <p:sp>
        <p:nvSpPr>
          <p:cNvPr id="10" name="proof-num-2">
            <a:extLst xmlns:a="http://schemas.openxmlformats.org/drawingml/2006/main">
              <a:ext uri="{FF2B5EF4-FFF2-40B4-BE49-F238E27FC236}">
                <a16:creationId xmlns:a16="http://schemas.microsoft.com/office/drawing/2014/main" id="{1E857AF0-1FC4-4C13-AE23-E9A4C3112776}"/>
              </a:ext>
            </a:extLst>
          </p:cNvPr>
          <p:cNvSpPr>
            <a:spLocks xmlns:a="http://schemas.openxmlformats.org/drawingml/2006/main" noGrp="1"/>
          </p:cNvSpPr>
          <p:nvPr/>
        </p:nvSpPr>
        <p:spPr>
          <a:xfrm xmlns:a="http://schemas.openxmlformats.org/drawingml/2006/main">
            <a:off x="8115300" y="213360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000" b="1">
                <a:solidFill>
                  <a:srgbClr val="0F7964"/>
                </a:solidFill>
                <a:latin typeface="Aptos"/>
                <a:ea typeface="Aptos"/>
                <a:cs typeface="Aptos"/>
              </a:defRPr>
            </a:pPr>
            <a:r>
              <a:rPr sz="6000" b="1">
                <a:solidFill>
                  <a:srgbClr val="0F7964"/>
                </a:solidFill>
                <a:latin typeface="Aptos"/>
                <a:ea typeface="Aptos"/>
                <a:cs typeface="Aptos"/>
              </a:rPr>
              <a:t>6</a:t>
            </a:r>
          </a:p>
        </p:txBody>
      </p:sp>
      <p:sp>
        <p:nvSpPr>
          <p:cNvPr id="11" name="proof-label-2">
            <a:extLst xmlns:a="http://schemas.openxmlformats.org/drawingml/2006/main">
              <a:ext uri="{FF2B5EF4-FFF2-40B4-BE49-F238E27FC236}">
                <a16:creationId xmlns:a16="http://schemas.microsoft.com/office/drawing/2014/main" id="{15EB59F8-C2FF-4CCA-BB94-E62E6EA7D8D5}"/>
              </a:ext>
            </a:extLst>
          </p:cNvPr>
          <p:cNvSpPr>
            <a:spLocks xmlns:a="http://schemas.openxmlformats.org/drawingml/2006/main" noGrp="1"/>
          </p:cNvSpPr>
          <p:nvPr/>
        </p:nvSpPr>
        <p:spPr>
          <a:xfrm xmlns:a="http://schemas.openxmlformats.org/drawingml/2006/main">
            <a:off x="8115300" y="3267075"/>
            <a:ext cx="328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43D35"/>
                </a:solidFill>
                <a:latin typeface="Aptos"/>
                <a:ea typeface="Aptos"/>
                <a:cs typeface="Aptos"/>
              </a:defRPr>
            </a:pPr>
            <a:r>
              <a:rPr sz="2100" b="1">
                <a:solidFill>
                  <a:srgbClr val="143D35"/>
                </a:solidFill>
                <a:latin typeface="Aptos"/>
                <a:ea typeface="Aptos"/>
                <a:cs typeface="Aptos"/>
              </a:rPr>
              <a:t>Private portal checks</a:t>
            </a:r>
          </a:p>
        </p:txBody>
      </p:sp>
      <p:sp>
        <p:nvSpPr>
          <p:cNvPr id="12" name="proof-rule">
            <a:extLst xmlns:a="http://schemas.openxmlformats.org/drawingml/2006/main">
              <a:ext uri="{FF2B5EF4-FFF2-40B4-BE49-F238E27FC236}">
                <a16:creationId xmlns:a16="http://schemas.microsoft.com/office/drawing/2014/main" id="{DFD3B0E9-F3AA-407D-B4BA-A280E280B900}"/>
              </a:ext>
            </a:extLst>
          </p:cNvPr>
          <p:cNvSpPr>
            <a:spLocks xmlns:a="http://schemas.openxmlformats.org/drawingml/2006/main" noGrp="1"/>
          </p:cNvSpPr>
          <p:nvPr/>
        </p:nvSpPr>
        <p:spPr>
          <a:xfrm xmlns:a="http://schemas.openxmlformats.org/drawingml/2006/main">
            <a:off x="609600" y="4067175"/>
            <a:ext cx="10972800" cy="9525"/>
          </a:xfrm>
          <a:prstGeom xmlns:a="http://schemas.openxmlformats.org/drawingml/2006/main" prst="rect">
            <a:avLst/>
          </a:prstGeom>
          <a:solidFill xmlns:a="http://schemas.openxmlformats.org/drawingml/2006/main">
            <a:srgbClr val="CDDBD4"/>
          </a:solidFill>
          <a:ln xmlns:a="http://schemas.openxmlformats.org/drawingml/2006/main" w="0">
            <a:noFill/>
            <a:prstDash val="solid"/>
          </a:ln>
        </p:spPr>
      </p:sp>
      <p:sp>
        <p:nvSpPr>
          <p:cNvPr id="13" name="proof-live-label">
            <a:extLst xmlns:a="http://schemas.openxmlformats.org/drawingml/2006/main">
              <a:ext uri="{FF2B5EF4-FFF2-40B4-BE49-F238E27FC236}">
                <a16:creationId xmlns:a16="http://schemas.microsoft.com/office/drawing/2014/main" id="{3803B7F3-564C-480C-9785-2C244E859D8C}"/>
              </a:ext>
            </a:extLst>
          </p:cNvPr>
          <p:cNvSpPr>
            <a:spLocks xmlns:a="http://schemas.openxmlformats.org/drawingml/2006/main" noGrp="1"/>
          </p:cNvSpPr>
          <p:nvPr/>
        </p:nvSpPr>
        <p:spPr>
          <a:xfrm xmlns:a="http://schemas.openxmlformats.org/drawingml/2006/main">
            <a:off x="609600" y="434340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F7964"/>
                </a:solidFill>
                <a:latin typeface="Aptos"/>
                <a:ea typeface="Aptos"/>
                <a:cs typeface="Aptos"/>
              </a:defRPr>
            </a:pPr>
            <a:r>
              <a:rPr sz="1350" b="1">
                <a:solidFill>
                  <a:srgbClr val="0F7964"/>
                </a:solidFill>
                <a:latin typeface="Aptos"/>
                <a:ea typeface="Aptos"/>
                <a:cs typeface="Aptos"/>
              </a:rPr>
              <a:t>LIVE TODAY</a:t>
            </a:r>
          </a:p>
        </p:txBody>
      </p:sp>
      <p:sp>
        <p:nvSpPr>
          <p:cNvPr id="14" name="proof-live">
            <a:extLst xmlns:a="http://schemas.openxmlformats.org/drawingml/2006/main">
              <a:ext uri="{FF2B5EF4-FFF2-40B4-BE49-F238E27FC236}">
                <a16:creationId xmlns:a16="http://schemas.microsoft.com/office/drawing/2014/main" id="{E01185E1-53A2-4CDA-9441-C368432989E0}"/>
              </a:ext>
            </a:extLst>
          </p:cNvPr>
          <p:cNvSpPr>
            <a:spLocks xmlns:a="http://schemas.openxmlformats.org/drawingml/2006/main" noGrp="1"/>
          </p:cNvSpPr>
          <p:nvPr/>
        </p:nvSpPr>
        <p:spPr>
          <a:xfrm xmlns:a="http://schemas.openxmlformats.org/drawingml/2006/main">
            <a:off x="609600" y="4781550"/>
            <a:ext cx="46482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537269"/>
                </a:solidFill>
                <a:latin typeface="Aptos"/>
                <a:ea typeface="Aptos"/>
                <a:cs typeface="Aptos"/>
              </a:defRPr>
            </a:pPr>
            <a:r>
              <a:rPr sz="2025" b="0">
                <a:solidFill>
                  <a:srgbClr val="537269"/>
                </a:solidFill>
                <a:latin typeface="Aptos"/>
                <a:ea typeface="Aptos"/>
                <a:cs typeface="Aptos"/>
              </a:rPr>
              <a:t>Public Snowflake demo, six workspaces, visit isolation and persistent local CRM.</a:t>
            </a:r>
          </a:p>
        </p:txBody>
      </p:sp>
      <p:sp>
        <p:nvSpPr>
          <p:cNvPr id="15" name="proof-next-label">
            <a:extLst xmlns:a="http://schemas.openxmlformats.org/drawingml/2006/main">
              <a:ext uri="{FF2B5EF4-FFF2-40B4-BE49-F238E27FC236}">
                <a16:creationId xmlns:a16="http://schemas.microsoft.com/office/drawing/2014/main" id="{02B285F4-AC54-4F56-BB29-AF2B177C4685}"/>
              </a:ext>
            </a:extLst>
          </p:cNvPr>
          <p:cNvSpPr>
            <a:spLocks xmlns:a="http://schemas.openxmlformats.org/drawingml/2006/main" noGrp="1"/>
          </p:cNvSpPr>
          <p:nvPr/>
        </p:nvSpPr>
        <p:spPr>
          <a:xfrm xmlns:a="http://schemas.openxmlformats.org/drawingml/2006/main">
            <a:off x="6324600" y="43434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F7964"/>
                </a:solidFill>
                <a:latin typeface="Aptos"/>
                <a:ea typeface="Aptos"/>
                <a:cs typeface="Aptos"/>
              </a:defRPr>
            </a:pPr>
            <a:r>
              <a:rPr sz="1350" b="1">
                <a:solidFill>
                  <a:srgbClr val="0F7964"/>
                </a:solidFill>
                <a:latin typeface="Aptos"/>
                <a:ea typeface="Aptos"/>
                <a:cs typeface="Aptos"/>
              </a:rPr>
              <a:t>BEFORE PRODUCTION</a:t>
            </a:r>
          </a:p>
        </p:txBody>
      </p:sp>
      <p:sp>
        <p:nvSpPr>
          <p:cNvPr id="16" name="proof-next">
            <a:extLst xmlns:a="http://schemas.openxmlformats.org/drawingml/2006/main">
              <a:ext uri="{FF2B5EF4-FFF2-40B4-BE49-F238E27FC236}">
                <a16:creationId xmlns:a16="http://schemas.microsoft.com/office/drawing/2014/main" id="{BBD4D962-BDB6-488A-92E7-CDC87BB92E6F}"/>
              </a:ext>
            </a:extLst>
          </p:cNvPr>
          <p:cNvSpPr>
            <a:spLocks xmlns:a="http://schemas.openxmlformats.org/drawingml/2006/main" noGrp="1"/>
          </p:cNvSpPr>
          <p:nvPr/>
        </p:nvSpPr>
        <p:spPr>
          <a:xfrm xmlns:a="http://schemas.openxmlformats.org/drawingml/2006/main">
            <a:off x="6324600" y="4781550"/>
            <a:ext cx="5143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537269"/>
                </a:solidFill>
                <a:latin typeface="Aptos"/>
                <a:ea typeface="Aptos"/>
                <a:cs typeface="Aptos"/>
              </a:defRPr>
            </a:pPr>
            <a:r>
              <a:rPr sz="2025" b="0">
                <a:solidFill>
                  <a:srgbClr val="537269"/>
                </a:solidFill>
                <a:latin typeface="Aptos"/>
                <a:ea typeface="Aptos"/>
                <a:cs typeface="Aptos"/>
              </a:rPr>
              <a:t>Private cloud writer · managed operational database + SSO · carrier call proof · CoCo CLI recording</a:t>
            </a:r>
          </a:p>
        </p:txBody>
      </p:sp>
    </p:spTree>
    <p:extLst>
      <p:ext uri="{BB962C8B-B14F-4D97-AF65-F5344CB8AC3E}">
        <p14:creationId xmlns:p14="http://schemas.microsoft.com/office/powerpoint/2010/main" val="1486601772"/>
      </p:ext>
    </p:extLst>
  </p:cSld>
</p:sld>
</file>

<file path=ppt/slides/slide10.xml><?xml version="1.0" encoding="utf-8"?>
<p:sld xmlns:p="http://schemas.openxmlformats.org/presentationml/2006/main">
  <p:cSld>
    <p:bg>
      <p:bgPr>
        <a:solidFill xmlns:a="http://schemas.openxmlformats.org/drawingml/2006/main">
          <a:srgbClr val="143D35"/>
        </a:solidFill>
      </p:bgPr>
    </p:bg>
    <p:spTree>
      <p:nvGrpSpPr>
        <p:cNvPr id="1" name=""/>
        <p:cNvGrpSpPr/>
        <p:nvPr/>
      </p:nvGrpSpPr>
      <p:grpSpPr>
        <a:xfrm xmlns:a="http://schemas.openxmlformats.org/drawingml/2006/main"/>
      </p:grpSpPr>
      <p:sp>
        <p:nvSpPr>
          <p:cNvPr id="12" name="s10-eyebrow">
            <a:extLst xmlns:a="http://schemas.openxmlformats.org/drawingml/2006/main">
              <a:ext uri="{FF2B5EF4-FFF2-40B4-BE49-F238E27FC236}">
                <a16:creationId xmlns:a16="http://schemas.microsoft.com/office/drawing/2014/main" id="{A0C418DA-4DCE-4939-A8A9-D2044A208C3F}"/>
              </a:ext>
            </a:extLst>
          </p:cNvPr>
          <p:cNvSpPr>
            <a:spLocks xmlns:a="http://schemas.openxmlformats.org/drawingml/2006/main" noGrp="1"/>
          </p:cNvSpPr>
          <p:nvPr/>
        </p:nvSpPr>
        <p:spPr>
          <a:xfrm xmlns:a="http://schemas.openxmlformats.org/drawingml/2006/main">
            <a:off x="609600" y="333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DDEEE4"/>
                </a:solidFill>
                <a:latin typeface="Aptos"/>
                <a:ea typeface="Aptos"/>
                <a:cs typeface="Aptos"/>
              </a:defRPr>
            </a:pPr>
            <a:r>
              <a:rPr sz="1200" b="1">
                <a:solidFill>
                  <a:srgbClr val="DDEEE4"/>
                </a:solidFill>
                <a:latin typeface="Aptos"/>
                <a:ea typeface="Aptos"/>
                <a:cs typeface="Aptos"/>
              </a:rPr>
              <a:t>SAMVAAD360 / PUBLIC PROTOTYPE</a:t>
            </a:r>
          </a:p>
        </p:txBody>
      </p:sp>
      <p:sp>
        <p:nvSpPr>
          <p:cNvPr id="2" name="s10-title">
            <a:extLst xmlns:a="http://schemas.openxmlformats.org/drawingml/2006/main">
              <a:ext uri="{FF2B5EF4-FFF2-40B4-BE49-F238E27FC236}">
                <a16:creationId xmlns:a16="http://schemas.microsoft.com/office/drawing/2014/main" id="{29F6D30A-08D8-424D-B91C-4780BACD4B49}"/>
              </a:ext>
            </a:extLst>
          </p:cNvPr>
          <p:cNvSpPr>
            <a:spLocks xmlns:a="http://schemas.openxmlformats.org/drawingml/2006/main" noGrp="1"/>
          </p:cNvSpPr>
          <p:nvPr/>
        </p:nvSpPr>
        <p:spPr>
          <a:xfrm xmlns:a="http://schemas.openxmlformats.org/drawingml/2006/main">
            <a:off x="609600" y="781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5F7F3"/>
                </a:solidFill>
                <a:latin typeface="Aptos"/>
                <a:ea typeface="Aptos"/>
                <a:cs typeface="Aptos"/>
              </a:defRPr>
            </a:pPr>
            <a:r>
              <a:rPr sz="3600" b="1">
                <a:solidFill>
                  <a:srgbClr val="F5F7F3"/>
                </a:solidFill>
                <a:latin typeface="Aptos"/>
                <a:ea typeface="Aptos"/>
                <a:cs typeface="Aptos"/>
              </a:rPr>
              <a:t>Try the journey. Inspect the evidence.</a:t>
            </a:r>
          </a:p>
        </p:txBody>
      </p:sp>
      <p:sp>
        <p:nvSpPr>
          <p:cNvPr id="3" name="s10-footer-rule">
            <a:extLst xmlns:a="http://schemas.openxmlformats.org/drawingml/2006/main">
              <a:ext uri="{FF2B5EF4-FFF2-40B4-BE49-F238E27FC236}">
                <a16:creationId xmlns:a16="http://schemas.microsoft.com/office/drawing/2014/main" id="{B3A0439E-3DD7-4F18-B20F-5443B0F53027}"/>
              </a:ext>
            </a:extLst>
          </p:cNvPr>
          <p:cNvSpPr>
            <a:spLocks xmlns:a="http://schemas.openxmlformats.org/drawingml/2006/main" noGrp="1"/>
          </p:cNvSpPr>
          <p:nvPr/>
        </p:nvSpPr>
        <p:spPr>
          <a:xfrm xmlns:a="http://schemas.openxmlformats.org/drawingml/2006/main">
            <a:off x="609600" y="6391275"/>
            <a:ext cx="10972800" cy="9525"/>
          </a:xfrm>
          <a:prstGeom xmlns:a="http://schemas.openxmlformats.org/drawingml/2006/main" prst="rect">
            <a:avLst/>
          </a:prstGeom>
          <a:solidFill xmlns:a="http://schemas.openxmlformats.org/drawingml/2006/main">
            <a:srgbClr val="47675E"/>
          </a:solidFill>
          <a:ln xmlns:a="http://schemas.openxmlformats.org/drawingml/2006/main" w="0">
            <a:noFill/>
            <a:prstDash val="solid"/>
          </a:ln>
        </p:spPr>
      </p:sp>
      <p:sp>
        <p:nvSpPr>
          <p:cNvPr id="4" name="s10-footer">
            <a:extLst xmlns:a="http://schemas.openxmlformats.org/drawingml/2006/main">
              <a:ext uri="{FF2B5EF4-FFF2-40B4-BE49-F238E27FC236}">
                <a16:creationId xmlns:a16="http://schemas.microsoft.com/office/drawing/2014/main" id="{5D78377F-A96F-476F-8840-21AA74BE11DB}"/>
              </a:ext>
            </a:extLst>
          </p:cNvPr>
          <p:cNvSpPr>
            <a:spLocks xmlns:a="http://schemas.openxmlformats.org/drawingml/2006/main" noGrp="1"/>
          </p:cNvSpPr>
          <p:nvPr/>
        </p:nvSpPr>
        <p:spPr>
          <a:xfrm xmlns:a="http://schemas.openxmlformats.org/drawingml/2006/main">
            <a:off x="609600" y="6524625"/>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0">
                <a:solidFill>
                  <a:srgbClr val="DDEEE4"/>
                </a:solidFill>
                <a:latin typeface="Aptos"/>
                <a:ea typeface="Aptos"/>
                <a:cs typeface="Aptos"/>
              </a:defRPr>
            </a:pPr>
            <a:r>
              <a:rPr sz="1125" b="0">
                <a:solidFill>
                  <a:srgbClr val="DDEEE4"/>
                </a:solidFill>
                <a:latin typeface="Aptos"/>
                <a:ea typeface="Aptos"/>
                <a:cs typeface="Aptos"/>
              </a:rPr>
              <a:t>Samvaad360 · Customer 360 + Next Best Action · Synthetic lending prototype</a:t>
            </a:r>
          </a:p>
        </p:txBody>
      </p:sp>
      <p:sp>
        <p:nvSpPr>
          <p:cNvPr id="5" name="s10-number">
            <a:extLst xmlns:a="http://schemas.openxmlformats.org/drawingml/2006/main">
              <a:ext uri="{FF2B5EF4-FFF2-40B4-BE49-F238E27FC236}">
                <a16:creationId xmlns:a16="http://schemas.microsoft.com/office/drawing/2014/main" id="{0C9A1C53-591F-446D-895C-A574A1D42169}"/>
              </a:ext>
            </a:extLst>
          </p:cNvPr>
          <p:cNvSpPr>
            <a:spLocks xmlns:a="http://schemas.openxmlformats.org/drawingml/2006/main" noGrp="1"/>
          </p:cNvSpPr>
          <p:nvPr/>
        </p:nvSpPr>
        <p:spPr>
          <a:xfrm xmlns:a="http://schemas.openxmlformats.org/drawingml/2006/main">
            <a:off x="11049000" y="650557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275" b="0">
                <a:solidFill>
                  <a:srgbClr val="DDEEE4"/>
                </a:solidFill>
                <a:latin typeface="Aptos"/>
                <a:ea typeface="Aptos"/>
                <a:cs typeface="Aptos"/>
              </a:defRPr>
            </a:pPr>
            <a:r>
              <a:rPr sz="1275" b="0">
                <a:solidFill>
                  <a:srgbClr val="DDEEE4"/>
                </a:solidFill>
                <a:latin typeface="Aptos"/>
                <a:ea typeface="Aptos"/>
                <a:cs typeface="Aptos"/>
              </a:rPr>
              <a:t>10</a:t>
            </a:r>
          </a:p>
        </p:txBody>
      </p:sp>
      <p:sp>
        <p:nvSpPr>
          <p:cNvPr id="6" name="close-demo-label">
            <a:extLst xmlns:a="http://schemas.openxmlformats.org/drawingml/2006/main">
              <a:ext uri="{FF2B5EF4-FFF2-40B4-BE49-F238E27FC236}">
                <a16:creationId xmlns:a16="http://schemas.microsoft.com/office/drawing/2014/main" id="{4ED4CBA3-B28E-41DB-A831-79B064AA5559}"/>
              </a:ext>
            </a:extLst>
          </p:cNvPr>
          <p:cNvSpPr>
            <a:spLocks xmlns:a="http://schemas.openxmlformats.org/drawingml/2006/main" noGrp="1"/>
          </p:cNvSpPr>
          <p:nvPr/>
        </p:nvSpPr>
        <p:spPr>
          <a:xfrm xmlns:a="http://schemas.openxmlformats.org/drawingml/2006/main">
            <a:off x="609600" y="21526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6AF75"/>
                </a:solidFill>
                <a:latin typeface="Aptos"/>
                <a:ea typeface="Aptos"/>
                <a:cs typeface="Aptos"/>
              </a:defRPr>
            </a:pPr>
            <a:r>
              <a:rPr sz="1350" b="1">
                <a:solidFill>
                  <a:srgbClr val="C6AF75"/>
                </a:solidFill>
                <a:latin typeface="Aptos"/>
                <a:ea typeface="Aptos"/>
                <a:cs typeface="Aptos"/>
              </a:rPr>
              <a:t>LIVE WEBSITE</a:t>
            </a:r>
          </a:p>
        </p:txBody>
      </p:sp>
      <p:sp>
        <p:nvSpPr>
          <p:cNvPr id="7" name="close-demo">
            <a:extLst xmlns:a="http://schemas.openxmlformats.org/drawingml/2006/main">
              <a:ext uri="{FF2B5EF4-FFF2-40B4-BE49-F238E27FC236}">
                <a16:creationId xmlns:a16="http://schemas.microsoft.com/office/drawing/2014/main" id="{2A7F72D9-A06C-4D26-BD75-F43877931805}"/>
              </a:ext>
            </a:extLst>
          </p:cNvPr>
          <p:cNvSpPr>
            <a:spLocks xmlns:a="http://schemas.openxmlformats.org/drawingml/2006/main" noGrp="1"/>
          </p:cNvSpPr>
          <p:nvPr/>
        </p:nvSpPr>
        <p:spPr>
          <a:xfrm xmlns:a="http://schemas.openxmlformats.org/drawingml/2006/main">
            <a:off x="609600" y="2638425"/>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5F7F3"/>
                </a:solidFill>
                <a:latin typeface="Aptos"/>
                <a:ea typeface="Aptos"/>
                <a:cs typeface="Aptos"/>
              </a:defRPr>
            </a:pPr>
            <a:r>
              <a:rPr u="sng">
                <a:solidFill>
                  <a:srgbClr val="F5F7F3"/>
                </a:solidFill>
                <a:hlinkClick xmlns:r="http://schemas.openxmlformats.org/officeDocument/2006/relationships" r:id="R3ebb09cff85c4c54"/>
              </a:rPr>
              <a:t>samvaad360.streamlit.app</a:t>
            </a:r>
          </a:p>
        </p:txBody>
      </p:sp>
      <p:sp>
        <p:nvSpPr>
          <p:cNvPr id="8" name="close-repo-label">
            <a:extLst xmlns:a="http://schemas.openxmlformats.org/drawingml/2006/main">
              <a:ext uri="{FF2B5EF4-FFF2-40B4-BE49-F238E27FC236}">
                <a16:creationId xmlns:a16="http://schemas.microsoft.com/office/drawing/2014/main" id="{9A481C30-D98E-4D44-AE93-F29C13FAEA69}"/>
              </a:ext>
            </a:extLst>
          </p:cNvPr>
          <p:cNvSpPr>
            <a:spLocks xmlns:a="http://schemas.openxmlformats.org/drawingml/2006/main" noGrp="1"/>
          </p:cNvSpPr>
          <p:nvPr/>
        </p:nvSpPr>
        <p:spPr>
          <a:xfrm xmlns:a="http://schemas.openxmlformats.org/drawingml/2006/main">
            <a:off x="609600" y="37052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6AF75"/>
                </a:solidFill>
                <a:latin typeface="Aptos"/>
                <a:ea typeface="Aptos"/>
                <a:cs typeface="Aptos"/>
              </a:defRPr>
            </a:pPr>
            <a:r>
              <a:rPr sz="1350" b="1">
                <a:solidFill>
                  <a:srgbClr val="C6AF75"/>
                </a:solidFill>
                <a:latin typeface="Aptos"/>
                <a:ea typeface="Aptos"/>
                <a:cs typeface="Aptos"/>
              </a:rPr>
              <a:t>PUBLIC SOURCE + IMPLEMENTATION</a:t>
            </a:r>
          </a:p>
        </p:txBody>
      </p:sp>
      <p:sp>
        <p:nvSpPr>
          <p:cNvPr id="9" name="close-repo">
            <a:extLst xmlns:a="http://schemas.openxmlformats.org/drawingml/2006/main">
              <a:ext uri="{FF2B5EF4-FFF2-40B4-BE49-F238E27FC236}">
                <a16:creationId xmlns:a16="http://schemas.microsoft.com/office/drawing/2014/main" id="{2800ED30-41E8-4FD8-ADE1-41A0619F56B0}"/>
              </a:ext>
            </a:extLst>
          </p:cNvPr>
          <p:cNvSpPr>
            <a:spLocks xmlns:a="http://schemas.openxmlformats.org/drawingml/2006/main" noGrp="1"/>
          </p:cNvSpPr>
          <p:nvPr/>
        </p:nvSpPr>
        <p:spPr>
          <a:xfrm xmlns:a="http://schemas.openxmlformats.org/drawingml/2006/main">
            <a:off x="609600" y="4191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5F7F3"/>
                </a:solidFill>
                <a:latin typeface="Aptos"/>
                <a:ea typeface="Aptos"/>
                <a:cs typeface="Aptos"/>
              </a:defRPr>
            </a:pPr>
            <a:r>
              <a:rPr u="sng">
                <a:solidFill>
                  <a:srgbClr val="F5F7F3"/>
                </a:solidFill>
                <a:hlinkClick xmlns:r="http://schemas.openxmlformats.org/officeDocument/2006/relationships" r:id="R7d5be6df40f5470f"/>
              </a:rPr>
              <a:t>github.com/Cherie05/samvaad360</a:t>
            </a:r>
          </a:p>
        </p:txBody>
      </p:sp>
      <p:sp>
        <p:nvSpPr>
          <p:cNvPr id="10" name="close-track">
            <a:extLst xmlns:a="http://schemas.openxmlformats.org/drawingml/2006/main">
              <a:ext uri="{FF2B5EF4-FFF2-40B4-BE49-F238E27FC236}">
                <a16:creationId xmlns:a16="http://schemas.microsoft.com/office/drawing/2014/main" id="{13E4C5E7-A55F-4F06-9526-1920D9DB12C3}"/>
              </a:ext>
            </a:extLst>
          </p:cNvPr>
          <p:cNvSpPr>
            <a:spLocks xmlns:a="http://schemas.openxmlformats.org/drawingml/2006/main" noGrp="1"/>
          </p:cNvSpPr>
          <p:nvPr/>
        </p:nvSpPr>
        <p:spPr>
          <a:xfrm xmlns:a="http://schemas.openxmlformats.org/drawingml/2006/main">
            <a:off x="609600" y="53911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DDEEE4"/>
                </a:solidFill>
                <a:latin typeface="Aptos"/>
                <a:ea typeface="Aptos"/>
                <a:cs typeface="Aptos"/>
              </a:defRPr>
            </a:pPr>
            <a:r>
              <a:rPr sz="2025" b="0">
                <a:solidFill>
                  <a:srgbClr val="DDEEE4"/>
                </a:solidFill>
                <a:latin typeface="Aptos"/>
                <a:ea typeface="Aptos"/>
                <a:cs typeface="Aptos"/>
              </a:rPr>
              <a:t>Track: Customer 360 and Next Best Action Engine</a:t>
            </a:r>
          </a:p>
        </p:txBody>
      </p:sp>
      <p:sp>
        <p:nvSpPr>
          <p:cNvPr id="11" name="close-scope">
            <a:extLst xmlns:a="http://schemas.openxmlformats.org/drawingml/2006/main">
              <a:ext uri="{FF2B5EF4-FFF2-40B4-BE49-F238E27FC236}">
                <a16:creationId xmlns:a16="http://schemas.microsoft.com/office/drawing/2014/main" id="{2D416379-DFE7-4400-B7A9-3960CE134930}"/>
              </a:ext>
            </a:extLst>
          </p:cNvPr>
          <p:cNvSpPr>
            <a:spLocks xmlns:a="http://schemas.openxmlformats.org/drawingml/2006/main" noGrp="1"/>
          </p:cNvSpPr>
          <p:nvPr/>
        </p:nvSpPr>
        <p:spPr>
          <a:xfrm xmlns:a="http://schemas.openxmlformats.org/drawingml/2006/main">
            <a:off x="609600" y="5857875"/>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a:solidFill>
                  <a:srgbClr val="DDEEE4"/>
                </a:solidFill>
                <a:latin typeface="Aptos"/>
                <a:ea typeface="Aptos"/>
                <a:cs typeface="Aptos"/>
              </a:defRPr>
            </a:pPr>
            <a:r>
              <a:rPr sz="1650" b="0">
                <a:solidFill>
                  <a:srgbClr val="DDEEE4"/>
                </a:solidFill>
                <a:latin typeface="Aptos"/>
                <a:ea typeface="Aptos"/>
                <a:cs typeface="Aptos"/>
              </a:rPr>
              <a:t>Fictional lending data · Public reviews and conversations are visit-local simulations</a:t>
            </a:r>
          </a:p>
        </p:txBody>
      </p:sp>
    </p:spTree>
    <p:extLst>
      <p:ext uri="{BB962C8B-B14F-4D97-AF65-F5344CB8AC3E}">
        <p14:creationId xmlns:p14="http://schemas.microsoft.com/office/powerpoint/2010/main" val="1765748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2026-10-06T15:37:05.2630000Z</dcterms:created>
  <dcterms:modified xsi:type="dcterms:W3CDTF">2026-10-06T15:37:05.2630000Z</dcterms:modified>
</coreProperties>
</file>