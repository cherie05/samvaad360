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d0dc421d084518" /><Relationship Type="http://schemas.openxmlformats.org/officeDocument/2006/relationships/extended-properties" Target="/docProps/app.xml" Id="Rd890b2ba3c9d46c8" /><Relationship Type="http://schemas.openxmlformats.org/officeDocument/2006/relationships/officeDocument" Target="/ppt/presentation.xml" Id="R4ed5db996fe946c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7d91cf16e644a0d"/>
  </p:sldMasterIdLst>
  <p:notesMasterIdLst>
    <p:notesMasterId xmlns:r="http://schemas.openxmlformats.org/officeDocument/2006/relationships" r:id="R8468fc2ce1c343d2"/>
  </p:notesMasterIdLst>
  <p:sldIdLst>
    <p:sldId xmlns:r="http://schemas.openxmlformats.org/officeDocument/2006/relationships" id="256" r:id="Ra77dc17743fe44c4"/>
    <p:sldId xmlns:r="http://schemas.openxmlformats.org/officeDocument/2006/relationships" id="257" r:id="R9fa3d2ca2dad415e"/>
    <p:sldId xmlns:r="http://schemas.openxmlformats.org/officeDocument/2006/relationships" id="258" r:id="Re8fc1655c42a404d"/>
    <p:sldId xmlns:r="http://schemas.openxmlformats.org/officeDocument/2006/relationships" id="259" r:id="R2b39aeb72f6d420d"/>
    <p:sldId xmlns:r="http://schemas.openxmlformats.org/officeDocument/2006/relationships" id="260" r:id="R6c47b40de586425f"/>
    <p:sldId xmlns:r="http://schemas.openxmlformats.org/officeDocument/2006/relationships" id="261" r:id="R0f3434029c244ff4"/>
  </p:sldIdLst>
  <p:sldSz cx="9144000" cy="5143500"/>
  <p:notesSz cx="6858000" cy="9144000"/>
  <p:embeddedFontLst>
    <p:embeddedFont>
      <p:font typeface="Manrope SemiBold"/>
      <p:regular xmlns:r="http://schemas.openxmlformats.org/officeDocument/2006/relationships" r:id="Re856f476bfed4626"/>
      <p:bold xmlns:r="http://schemas.openxmlformats.org/officeDocument/2006/relationships" r:id="R74214bb6ae394e58"/>
    </p:embeddedFont>
    <p:embeddedFont>
      <p:font typeface="Manrope"/>
      <p:regular xmlns:r="http://schemas.openxmlformats.org/officeDocument/2006/relationships" r:id="Rb7ca14ab6fb045bf"/>
      <p:bold xmlns:r="http://schemas.openxmlformats.org/officeDocument/2006/relationships" r:id="Rc4f11cdeba29499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d7f27815df124dc5" /><Relationship Type="http://schemas.openxmlformats.org/officeDocument/2006/relationships/slideMaster" Target="/ppt/slideMasters/slideMaster1.xml" Id="Rf7d91cf16e644a0d" /><Relationship Type="http://schemas.openxmlformats.org/officeDocument/2006/relationships/notesMaster" Target="/ppt/notesMasters/notesMaster1.xml" Id="R8468fc2ce1c343d2" /><Relationship Type="http://schemas.openxmlformats.org/officeDocument/2006/relationships/presProps" Target="/ppt/presProps.xml" Id="Rd9fc454bfe794bc5" /><Relationship Type="http://schemas.openxmlformats.org/officeDocument/2006/relationships/viewProps" Target="/ppt/viewProps.xml" Id="Rc191e35d6aa04829" /><Relationship Type="http://schemas.openxmlformats.org/officeDocument/2006/relationships/tableStyles" Target="/ppt/tableStyles.xml" Id="R6985a0c37e4e43c8" /><Relationship Type="http://schemas.openxmlformats.org/officeDocument/2006/relationships/font" Target="/ppt/fonts/font.dat" Id="Re856f476bfed4626" /><Relationship Type="http://schemas.openxmlformats.org/officeDocument/2006/relationships/font" Target="/ppt/fonts/font2.dat" Id="R74214bb6ae394e58" /><Relationship Type="http://schemas.openxmlformats.org/officeDocument/2006/relationships/font" Target="/ppt/fonts/font3.dat" Id="Rb7ca14ab6fb045bf" /><Relationship Type="http://schemas.openxmlformats.org/officeDocument/2006/relationships/font" Target="/ppt/fonts/font4.dat" Id="Rc4f11cdeba294998" /><Relationship Type="http://schemas.openxmlformats.org/officeDocument/2006/relationships/slide" Target="/ppt/slides/slide1.xml" Id="Ra77dc17743fe44c4" /><Relationship Type="http://schemas.openxmlformats.org/officeDocument/2006/relationships/slide" Target="/ppt/slides/slide2.xml" Id="R9fa3d2ca2dad415e" /><Relationship Type="http://schemas.openxmlformats.org/officeDocument/2006/relationships/slide" Target="/ppt/slides/slide3.xml" Id="Re8fc1655c42a404d" /><Relationship Type="http://schemas.openxmlformats.org/officeDocument/2006/relationships/slide" Target="/ppt/slides/slide4.xml" Id="R2b39aeb72f6d420d" /><Relationship Type="http://schemas.openxmlformats.org/officeDocument/2006/relationships/slide" Target="/ppt/slides/slide5.xml" Id="R6c47b40de586425f" /><Relationship Type="http://schemas.openxmlformats.org/officeDocument/2006/relationships/slide" Target="/ppt/slides/slide6.xml" Id="R0f3434029c244f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16497bff4b40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90215cb8444bda" /><Relationship Type="http://schemas.openxmlformats.org/officeDocument/2006/relationships/notesMaster" Target="/ppt/notesMasters/notesMaster1.xml" Id="Ra5db2520520544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00e2d44e314de2" /><Relationship Type="http://schemas.openxmlformats.org/officeDocument/2006/relationships/notesMaster" Target="/ppt/notesMasters/notesMaster1.xml" Id="Rfc42a0bb8edd43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db6b5159d3440f" /><Relationship Type="http://schemas.openxmlformats.org/officeDocument/2006/relationships/notesMaster" Target="/ppt/notesMasters/notesMaster1.xml" Id="R962b30f73f6b4b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aaa40b19314c1f" /><Relationship Type="http://schemas.openxmlformats.org/officeDocument/2006/relationships/notesMaster" Target="/ppt/notesMasters/notesMaster1.xml" Id="Re71488069c884c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606c2d354f448b" /><Relationship Type="http://schemas.openxmlformats.org/officeDocument/2006/relationships/notesMaster" Target="/ppt/notesMasters/notesMaster1.xml" Id="R2268691af8c040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c2d367b22f4d85" /><Relationship Type="http://schemas.openxmlformats.org/officeDocument/2006/relationships/notesMaster" Target="/ppt/notesMasters/notesMaster1.xml" Id="Re4cfe0e6a9244e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Team name Glacier Queries and leader Arunvpp supplied by the participant. Team size 1 confirmed separately. Track matches the participant portal.</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The implemented scope is lending customer context and policy-aware recommendations. All demonstrated people and records are fictional. No measured churn/ROI improvement or market exclusivity claimed.</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https://github.com/Cherie05/samvaad360/blob/main/samvaad/engine.py</a:t>
            </a:r>
            <a:endParaRPr/>
          </a:p>
          <a:p xmlns:a="http://schemas.openxmlformats.org/drawingml/2006/main">
            <a:pPr marL="0" lvl="0" indent="0" algn="l">
              <a:lnSpc>
                <a:spcPct val="100000"/>
              </a:lnSpc>
              <a:spcBef>
                <a:spcPts val="0"/>
              </a:spcBef>
              <a:spcAft>
                <a:spcPts val="0"/>
              </a:spcAft>
              <a:buSzPts val="1100"/>
              <a:buNone/>
            </a:pPr>
            <a:r>
              <a:t>https://samvaad360.streamlit.app/</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Public frontend is Python Streamlit. The dedicated Snowflake reader issues fixed read-only synthetic snapshot queries. Private FastAPI/SQLite flows persist locally; private Snowflake writer/outbox activation remains unconfigured. CoCo definitions are samvaad-evidence, samvaad-generate and samvaad-approved-runner. Native 1.1.87 executed all three in the owner terminal; returned trace matches isolated SQLite COMPLETED/CALLBACK/simulate, one attempt, completed 2026-10-06T16:23:35.422079Z. App-service controls remain authoritative; no native shell sandbox claim.</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https://github.com/Cherie05/samvaad360/blob/main/public_app/repository.py</a:t>
            </a:r>
            <a:endParaRPr/>
          </a:p>
          <a:p xmlns:a="http://schemas.openxmlformats.org/drawingml/2006/main">
            <a:pPr marL="0" lvl="0" indent="0" algn="l">
              <a:lnSpc>
                <a:spcPct val="100000"/>
              </a:lnSpc>
              <a:spcBef>
                <a:spcPts val="0"/>
              </a:spcBef>
              <a:spcAft>
                <a:spcPts val="0"/>
              </a:spcAft>
              <a:buSzPts val="1100"/>
              <a:buNone/>
            </a:pPr>
            <a:r>
              <a:t>https://github.com/Cherie05/samvaad360/blob/main/.cortex/skills/samvaad-evidence/SKILL.md</a:t>
            </a:r>
            <a:endParaRPr/>
          </a:p>
          <a:p xmlns:a="http://schemas.openxmlformats.org/drawingml/2006/main">
            <a:pPr marL="0" lvl="0" indent="0" algn="l">
              <a:lnSpc>
                <a:spcPct val="100000"/>
              </a:lnSpc>
              <a:spcBef>
                <a:spcPts val="0"/>
              </a:spcBef>
              <a:spcAft>
                <a:spcPts val="0"/>
              </a:spcAft>
              <a:buSzPts val="1100"/>
              <a:buNone/>
            </a:pPr>
            <a:r>
              <a:t>https://github.com/Cherie05/samvaad360/blob/main/.cortex/skills/samvaad-generate/SKILL.md</a:t>
            </a:r>
            <a:endParaRPr/>
          </a:p>
          <a:p xmlns:a="http://schemas.openxmlformats.org/drawingml/2006/main">
            <a:pPr marL="0" lvl="0" indent="0" algn="l">
              <a:lnSpc>
                <a:spcPct val="100000"/>
              </a:lnSpc>
              <a:spcBef>
                <a:spcPts val="0"/>
              </a:spcBef>
              <a:spcAft>
                <a:spcPts val="0"/>
              </a:spcAft>
              <a:buSzPts val="1100"/>
              <a:buNone/>
            </a:pPr>
            <a:r>
              <a:t>https://github.com/Cherie05/samvaad360/blob/main/.cortex/skills/samvaad-approved-runner/SKILL.md</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557 tests passed in GitHub run 37490270245. Hosted browser report: 20 checks at 2026-10-06T15:47:55.069776Z. Private local browser: 6 checks at 2026-10-06T14:51:38.877300Z. These are functional prototype checks, not production certification. Shared budgets are application controls, not an account-wide credit cap or proof of Community Cloud per-IP enforcement. No real telephone call or loan change was performed.</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https://github.com/Cherie05/samvaad360/actions/runs/37490270245</a:t>
            </a:r>
            <a:endParaRPr/>
          </a:p>
          <a:p xmlns:a="http://schemas.openxmlformats.org/drawingml/2006/main">
            <a:pPr marL="0" lvl="0" indent="0" algn="l">
              <a:lnSpc>
                <a:spcPct val="100000"/>
              </a:lnSpc>
              <a:spcBef>
                <a:spcPts val="0"/>
              </a:spcBef>
              <a:spcAft>
                <a:spcPts val="0"/>
              </a:spcAft>
              <a:buSzPts val="1100"/>
              <a:buNone/>
            </a:pPr>
            <a:r>
              <a:t>https://github.com/Cherie05/samvaad360/blob/main/docs/production-readiness.md</a:t>
            </a:r>
            <a:endParaRPr/>
          </a:p>
          <a:p xmlns:a="http://schemas.openxmlformats.org/drawingml/2006/main">
            <a:pPr marL="0" lvl="0" indent="0" algn="l">
              <a:lnSpc>
                <a:spcPct val="100000"/>
              </a:lnSpc>
              <a:spcBef>
                <a:spcPts val="0"/>
              </a:spcBef>
              <a:spcAft>
                <a:spcPts val="0"/>
              </a:spcAft>
              <a:buSzPts val="1100"/>
              <a:buNone/>
            </a:pPr>
            <a:r>
              <a:t>Local evidence: output/cloud/public-browser/hosted/result.json; output/cloud/relationship-browser/result.json</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Links point to the public deployed prototype and source. Owner supplied the actual native input, three SKILL loads, three POWERSHELL tool results and final callback summary. The stored action ID e2e19413-c7b0-4583-af6b-f52199122e66 and completion timestamp match the read-only database verification. This establishes native workflow execution separately from the required recording. No telephone call or financial change occurred. Participant portal receipt is pending.</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https://samvaad360.streamlit.app/</a:t>
            </a:r>
            <a:endParaRPr/>
          </a:p>
          <a:p xmlns:a="http://schemas.openxmlformats.org/drawingml/2006/main">
            <a:pPr marL="0" lvl="0" indent="0" algn="l">
              <a:lnSpc>
                <a:spcPct val="100000"/>
              </a:lnSpc>
              <a:spcBef>
                <a:spcPts val="0"/>
              </a:spcBef>
              <a:spcAft>
                <a:spcPts val="0"/>
              </a:spcAft>
              <a:buSzPts val="1100"/>
              <a:buNone/>
            </a:pPr>
            <a:r>
              <a:t>https://github.com/Cherie05/samvaad360</a:t>
            </a:r>
            <a:endParaRPr/>
          </a:p>
          <a:p xmlns:a="http://schemas.openxmlformats.org/drawingml/2006/main">
            <a:pPr marL="0" lvl="0" indent="0" algn="l">
              <a:lnSpc>
                <a:spcPct val="100000"/>
              </a:lnSpc>
              <a:spcBef>
                <a:spcPts val="0"/>
              </a:spcBef>
              <a:spcAft>
                <a:spcPts val="0"/>
              </a:spcAft>
              <a:buSzPts val="1100"/>
              <a:buNone/>
            </a:pPr>
            <a:r>
              <a:t>https://github.com/Cherie05/samvaad360/releases/tag/hackathon-submission-2026</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Original closing artwork preserved without edits.</a:t>
            </a:r>
            <a:endParaRPr/>
          </a:p>
          <a:p xmlns:a="http://schemas.openxmlformats.org/drawingml/2006/main">
            <a:pPr marL="0" lvl="0" indent="0" algn="l">
              <a:lnSpc>
                <a:spcPct val="100000"/>
              </a:lnSpc>
              <a:spcBef>
                <a:spcPts val="0"/>
              </a:spcBef>
              <a:spcAft>
                <a:spcPts val="0"/>
              </a:spcAft>
              <a:buSzPts val="1100"/>
              <a:buNone/>
            </a:pPr>
            <a:r>
              <a:t>Participant-provided Prototype Submission Template _ CoCo CLI Hackathon GCC Edition.pptx; organizer branding retained.</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82e9d615f84c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b0bd84962344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98790532d44d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e33f9f13244c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4d1f43520c42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173d6421a74c2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b190ae38d6944f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bf59860ff064a5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4fe2d9a6c1f45b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cadba12fc73403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6835dea6b66475b"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CC8423D5-0ADF-499B-A728-CC8ABC4E168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3">
            <a:extLst xmlns:a="http://schemas.openxmlformats.org/drawingml/2006/main">
              <a:ext uri="{FF2B5EF4-FFF2-40B4-BE49-F238E27FC236}">
                <a16:creationId xmlns:a16="http://schemas.microsoft.com/office/drawing/2014/main" id="{A68EFA93-EDF7-4929-81EF-8320F3FE5CDA}"/>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p:txBody>
      </p:sp>
      <p:sp>
        <p:nvSpPr>
          <p:cNvPr id="13" name="Google Shape;13;p3">
            <a:extLst xmlns:a="http://schemas.openxmlformats.org/drawingml/2006/main">
              <a:ext uri="{FF2B5EF4-FFF2-40B4-BE49-F238E27FC236}">
                <a16:creationId xmlns:a16="http://schemas.microsoft.com/office/drawing/2014/main" id="{31DDEDC1-7F9E-4A3B-928D-EC57CA173584}"/>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4" name="Google Shape;14;p3">
            <a:extLst xmlns:a="http://schemas.openxmlformats.org/drawingml/2006/main">
              <a:ext uri="{FF2B5EF4-FFF2-40B4-BE49-F238E27FC236}">
                <a16:creationId xmlns:a16="http://schemas.microsoft.com/office/drawing/2014/main" id="{53FCDFC4-A250-4C17-8CDA-9A4CDA7BC0B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6" name="Google Shape;16;p4">
            <a:extLst xmlns:a="http://schemas.openxmlformats.org/drawingml/2006/main">
              <a:ext uri="{FF2B5EF4-FFF2-40B4-BE49-F238E27FC236}">
                <a16:creationId xmlns:a16="http://schemas.microsoft.com/office/drawing/2014/main" id="{21891040-2AC7-44A0-B5A4-B18D71F15538}"/>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p:txBody>
      </p:sp>
      <p:sp>
        <p:nvSpPr>
          <p:cNvPr id="17" name="Google Shape;17;p4">
            <a:extLst xmlns:a="http://schemas.openxmlformats.org/drawingml/2006/main">
              <a:ext uri="{FF2B5EF4-FFF2-40B4-BE49-F238E27FC236}">
                <a16:creationId xmlns:a16="http://schemas.microsoft.com/office/drawing/2014/main" id="{9F2D0479-5E79-49BD-9BD1-4198E436C59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9" name="Google Shape;19;p5">
            <a:extLst xmlns:a="http://schemas.openxmlformats.org/drawingml/2006/main">
              <a:ext uri="{FF2B5EF4-FFF2-40B4-BE49-F238E27FC236}">
                <a16:creationId xmlns:a16="http://schemas.microsoft.com/office/drawing/2014/main" id="{F0928746-9E44-4AC2-B20E-FBB679FDBB1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0" name="Google Shape;20;p5">
            <a:extLst xmlns:a="http://schemas.openxmlformats.org/drawingml/2006/main">
              <a:ext uri="{FF2B5EF4-FFF2-40B4-BE49-F238E27FC236}">
                <a16:creationId xmlns:a16="http://schemas.microsoft.com/office/drawing/2014/main" id="{9696B8EE-F71B-43B6-8CB1-245208CC02D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1" name="Google Shape;21;p5">
            <a:extLst xmlns:a="http://schemas.openxmlformats.org/drawingml/2006/main">
              <a:ext uri="{FF2B5EF4-FFF2-40B4-BE49-F238E27FC236}">
                <a16:creationId xmlns:a16="http://schemas.microsoft.com/office/drawing/2014/main" id="{6DE5E694-48A5-48D9-AEAD-72CE522DBD8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3" name="Google Shape;23;p6">
            <a:extLst xmlns:a="http://schemas.openxmlformats.org/drawingml/2006/main">
              <a:ext uri="{FF2B5EF4-FFF2-40B4-BE49-F238E27FC236}">
                <a16:creationId xmlns:a16="http://schemas.microsoft.com/office/drawing/2014/main" id="{A3E34C10-2571-4B0E-A5EE-9F1D1D7B0E9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46A16349-2E58-4495-B49F-C57CEBDD4858}"/>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5" name="Google Shape;25;p6">
            <a:extLst xmlns:a="http://schemas.openxmlformats.org/drawingml/2006/main">
              <a:ext uri="{FF2B5EF4-FFF2-40B4-BE49-F238E27FC236}">
                <a16:creationId xmlns:a16="http://schemas.microsoft.com/office/drawing/2014/main" id="{B92A51A5-39D1-48D2-871F-3AED3174CB34}"/>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6" name="Google Shape;26;p6">
            <a:extLst xmlns:a="http://schemas.openxmlformats.org/drawingml/2006/main">
              <a:ext uri="{FF2B5EF4-FFF2-40B4-BE49-F238E27FC236}">
                <a16:creationId xmlns:a16="http://schemas.microsoft.com/office/drawing/2014/main" id="{EA0E6920-D553-44FF-A22E-EF5588316F1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8" name="Google Shape;28;p7">
            <a:extLst xmlns:a="http://schemas.openxmlformats.org/drawingml/2006/main">
              <a:ext uri="{FF2B5EF4-FFF2-40B4-BE49-F238E27FC236}">
                <a16:creationId xmlns:a16="http://schemas.microsoft.com/office/drawing/2014/main" id="{4C1730B9-6264-4782-B44D-437BBD6336A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9" name="Google Shape;29;p7">
            <a:extLst xmlns:a="http://schemas.openxmlformats.org/drawingml/2006/main">
              <a:ext uri="{FF2B5EF4-FFF2-40B4-BE49-F238E27FC236}">
                <a16:creationId xmlns:a16="http://schemas.microsoft.com/office/drawing/2014/main" id="{0BB93EFC-AFAB-453F-A7C3-2F17149C9A1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31" name="Google Shape;31;p8">
            <a:extLst xmlns:a="http://schemas.openxmlformats.org/drawingml/2006/main">
              <a:ext uri="{FF2B5EF4-FFF2-40B4-BE49-F238E27FC236}">
                <a16:creationId xmlns:a16="http://schemas.microsoft.com/office/drawing/2014/main" id="{75BD0652-22FC-4B80-AD91-7E48BBE0B3CD}"/>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32" name="Google Shape;32;p8">
            <a:extLst xmlns:a="http://schemas.openxmlformats.org/drawingml/2006/main">
              <a:ext uri="{FF2B5EF4-FFF2-40B4-BE49-F238E27FC236}">
                <a16:creationId xmlns:a16="http://schemas.microsoft.com/office/drawing/2014/main" id="{0F90C23B-9534-405B-BC9F-8E133DEFAC08}"/>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3" name="Google Shape;33;p8">
            <a:extLst xmlns:a="http://schemas.openxmlformats.org/drawingml/2006/main">
              <a:ext uri="{FF2B5EF4-FFF2-40B4-BE49-F238E27FC236}">
                <a16:creationId xmlns:a16="http://schemas.microsoft.com/office/drawing/2014/main" id="{71F76CCF-9D3C-4EEA-B5FC-CBD76CCDE5F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5" name="Google Shape;35;p9">
            <a:extLst xmlns:a="http://schemas.openxmlformats.org/drawingml/2006/main">
              <a:ext uri="{FF2B5EF4-FFF2-40B4-BE49-F238E27FC236}">
                <a16:creationId xmlns:a16="http://schemas.microsoft.com/office/drawing/2014/main" id="{14EDCBB0-D2F9-493B-B2A7-0AB8241667B1}"/>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p:txBody>
      </p:sp>
      <p:sp>
        <p:nvSpPr>
          <p:cNvPr id="36" name="Google Shape;36;p9">
            <a:extLst xmlns:a="http://schemas.openxmlformats.org/drawingml/2006/main">
              <a:ext uri="{FF2B5EF4-FFF2-40B4-BE49-F238E27FC236}">
                <a16:creationId xmlns:a16="http://schemas.microsoft.com/office/drawing/2014/main" id="{E8917316-521A-41F4-8797-4FEB5F07DD2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8" name="Google Shape;38;p10">
            <a:extLst xmlns:a="http://schemas.openxmlformats.org/drawingml/2006/main">
              <a:ext uri="{FF2B5EF4-FFF2-40B4-BE49-F238E27FC236}">
                <a16:creationId xmlns:a16="http://schemas.microsoft.com/office/drawing/2014/main" id="{6743D6D4-99BB-4A8B-9A26-50EFF645E8AD}"/>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9" name="Google Shape;39;p10">
            <a:extLst xmlns:a="http://schemas.openxmlformats.org/drawingml/2006/main">
              <a:ext uri="{FF2B5EF4-FFF2-40B4-BE49-F238E27FC236}">
                <a16:creationId xmlns:a16="http://schemas.microsoft.com/office/drawing/2014/main" id="{AEEEAE5C-AD7B-482A-958C-9F6FD62927EA}"/>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p:txBody>
      </p:sp>
      <p:sp>
        <p:nvSpPr>
          <p:cNvPr id="40" name="Google Shape;40;p10">
            <a:extLst xmlns:a="http://schemas.openxmlformats.org/drawingml/2006/main">
              <a:ext uri="{FF2B5EF4-FFF2-40B4-BE49-F238E27FC236}">
                <a16:creationId xmlns:a16="http://schemas.microsoft.com/office/drawing/2014/main" id="{28DC8D38-9B9A-428D-B8AB-FD33566591F4}"/>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41" name="Google Shape;41;p10">
            <a:extLst xmlns:a="http://schemas.openxmlformats.org/drawingml/2006/main">
              <a:ext uri="{FF2B5EF4-FFF2-40B4-BE49-F238E27FC236}">
                <a16:creationId xmlns:a16="http://schemas.microsoft.com/office/drawing/2014/main" id="{7E5E157C-BABF-40BC-A66E-28DF5FA6D294}"/>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42" name="Google Shape;42;p10">
            <a:extLst xmlns:a="http://schemas.openxmlformats.org/drawingml/2006/main">
              <a:ext uri="{FF2B5EF4-FFF2-40B4-BE49-F238E27FC236}">
                <a16:creationId xmlns:a16="http://schemas.microsoft.com/office/drawing/2014/main" id="{A80F177E-BE60-4EFC-BD6E-9CDFD42FA56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4" name="Google Shape;44;p11">
            <a:extLst xmlns:a="http://schemas.openxmlformats.org/drawingml/2006/main">
              <a:ext uri="{FF2B5EF4-FFF2-40B4-BE49-F238E27FC236}">
                <a16:creationId xmlns:a16="http://schemas.microsoft.com/office/drawing/2014/main" id="{DC6F2563-AD04-43AB-9038-DC639E922ACC}"/>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stStyle>
          <a:p xmlns:a="http://schemas.openxmlformats.org/drawingml/2006/main"/>
        </p:txBody>
      </p:sp>
      <p:sp>
        <p:nvSpPr>
          <p:cNvPr id="45" name="Google Shape;45;p11">
            <a:extLst xmlns:a="http://schemas.openxmlformats.org/drawingml/2006/main">
              <a:ext uri="{FF2B5EF4-FFF2-40B4-BE49-F238E27FC236}">
                <a16:creationId xmlns:a16="http://schemas.microsoft.com/office/drawing/2014/main" id="{4365F0EE-4E62-46FF-AFE1-71792D29354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7" name="Google Shape;47;p12">
            <a:extLst xmlns:a="http://schemas.openxmlformats.org/drawingml/2006/main">
              <a:ext uri="{FF2B5EF4-FFF2-40B4-BE49-F238E27FC236}">
                <a16:creationId xmlns:a16="http://schemas.microsoft.com/office/drawing/2014/main" id="{980A3D4D-598D-4A24-A6F9-B1048EB4DD31}"/>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r>
              <a:t>xx%</a:t>
            </a:r>
          </a:p>
        </p:txBody>
      </p:sp>
      <p:sp>
        <p:nvSpPr>
          <p:cNvPr id="48" name="Google Shape;48;p12">
            <a:extLst xmlns:a="http://schemas.openxmlformats.org/drawingml/2006/main">
              <a:ext uri="{FF2B5EF4-FFF2-40B4-BE49-F238E27FC236}">
                <a16:creationId xmlns:a16="http://schemas.microsoft.com/office/drawing/2014/main" id="{409E138D-F5A8-406A-931B-4E4603B3AB4A}"/>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xmlns:a="http://schemas.openxmlformats.org/drawingml/2006/main"/>
        </p:txBody>
      </p:sp>
      <p:sp>
        <p:nvSpPr>
          <p:cNvPr id="49" name="Google Shape;49;p12">
            <a:extLst xmlns:a="http://schemas.openxmlformats.org/drawingml/2006/main">
              <a:ext uri="{FF2B5EF4-FFF2-40B4-BE49-F238E27FC236}">
                <a16:creationId xmlns:a16="http://schemas.microsoft.com/office/drawing/2014/main" id="{940EAC90-E7DE-4897-BF88-3EB1DAA780B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00964624c94afd" /><Relationship Type="http://schemas.openxmlformats.org/officeDocument/2006/relationships/slideLayout" Target="/ppt/slideLayouts/slideLayout1.xml" Id="R75db4c7a2e4d4835" /><Relationship Type="http://schemas.openxmlformats.org/officeDocument/2006/relationships/slideLayout" Target="/ppt/slideLayouts/slideLayout2.xml" Id="Raf5494213f9141b9" /><Relationship Type="http://schemas.openxmlformats.org/officeDocument/2006/relationships/slideLayout" Target="/ppt/slideLayouts/slideLayout3.xml" Id="Ra9a68ae44ac244bd" /><Relationship Type="http://schemas.openxmlformats.org/officeDocument/2006/relationships/slideLayout" Target="/ppt/slideLayouts/slideLayout4.xml" Id="Rc7e35ad8f7c2416d" /><Relationship Type="http://schemas.openxmlformats.org/officeDocument/2006/relationships/slideLayout" Target="/ppt/slideLayouts/slideLayout5.xml" Id="R85fa723728e044f2" /><Relationship Type="http://schemas.openxmlformats.org/officeDocument/2006/relationships/slideLayout" Target="/ppt/slideLayouts/slideLayout6.xml" Id="Rdfe7c917776747ed" /><Relationship Type="http://schemas.openxmlformats.org/officeDocument/2006/relationships/slideLayout" Target="/ppt/slideLayouts/slideLayout7.xml" Id="R8c58806a16694f6d" /><Relationship Type="http://schemas.openxmlformats.org/officeDocument/2006/relationships/slideLayout" Target="/ppt/slideLayouts/slideLayout8.xml" Id="Rd728123f49cd4ca2" /><Relationship Type="http://schemas.openxmlformats.org/officeDocument/2006/relationships/slideLayout" Target="/ppt/slideLayouts/slideLayout9.xml" Id="R939e3ed1eb3a4a93" /><Relationship Type="http://schemas.openxmlformats.org/officeDocument/2006/relationships/slideLayout" Target="/ppt/slideLayouts/slideLayout10.xml" Id="R3690e5edda434e50" /><Relationship Type="http://schemas.openxmlformats.org/officeDocument/2006/relationships/slideLayout" Target="/ppt/slideLayouts/slideLayout11.xml" Id="R679a517e8dce405a"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AE4BBA70-099D-4495-BC19-1527F0C2C3F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6CAA24D7-9D92-43E4-8381-79AEE5587B2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8438FF26-B0DB-41A5-A133-92B7171F60B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5db4c7a2e4d4835"/>
    <p:sldLayoutId xmlns:r="http://schemas.openxmlformats.org/officeDocument/2006/relationships" id="2147483650" r:id="Raf5494213f9141b9"/>
    <p:sldLayoutId xmlns:r="http://schemas.openxmlformats.org/officeDocument/2006/relationships" id="2147483651" r:id="Ra9a68ae44ac244bd"/>
    <p:sldLayoutId xmlns:r="http://schemas.openxmlformats.org/officeDocument/2006/relationships" id="2147483652" r:id="Rc7e35ad8f7c2416d"/>
    <p:sldLayoutId xmlns:r="http://schemas.openxmlformats.org/officeDocument/2006/relationships" id="2147483653" r:id="R85fa723728e044f2"/>
    <p:sldLayoutId xmlns:r="http://schemas.openxmlformats.org/officeDocument/2006/relationships" id="2147483654" r:id="Rdfe7c917776747ed"/>
    <p:sldLayoutId xmlns:r="http://schemas.openxmlformats.org/officeDocument/2006/relationships" id="2147483655" r:id="R8c58806a16694f6d"/>
    <p:sldLayoutId xmlns:r="http://schemas.openxmlformats.org/officeDocument/2006/relationships" id="2147483656" r:id="Rd728123f49cd4ca2"/>
    <p:sldLayoutId xmlns:r="http://schemas.openxmlformats.org/officeDocument/2006/relationships" id="2147483657" r:id="R939e3ed1eb3a4a93"/>
    <p:sldLayoutId xmlns:r="http://schemas.openxmlformats.org/officeDocument/2006/relationships" id="2147483658" r:id="R3690e5edda434e50"/>
    <p:sldLayoutId xmlns:r="http://schemas.openxmlformats.org/officeDocument/2006/relationships" id="2147483659" r:id="R679a517e8dce405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00ae20bd764516" /><Relationship Type="http://schemas.openxmlformats.org/officeDocument/2006/relationships/image" Target="/ppt/media/image.png" Id="Rbcbae0d8190a443c" /><Relationship Type="http://schemas.openxmlformats.org/officeDocument/2006/relationships/notesSlide" Target="/ppt/notesSlides/notesSlide1.xml" Id="R32bcd4d5714343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de472616a64cdc" /><Relationship Type="http://schemas.openxmlformats.org/officeDocument/2006/relationships/image" Target="/ppt/media/image2.png" Id="R5431c4c53e4e46b8" /><Relationship Type="http://schemas.openxmlformats.org/officeDocument/2006/relationships/notesSlide" Target="/ppt/notesSlides/notesSlide2.xml" Id="R28ff3014048146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60100a9e944aa2" /><Relationship Type="http://schemas.openxmlformats.org/officeDocument/2006/relationships/image" Target="/ppt/media/image2.png" Id="R6f37606049ae43eb" /><Relationship Type="http://schemas.openxmlformats.org/officeDocument/2006/relationships/notesSlide" Target="/ppt/notesSlides/notesSlide3.xml" Id="R7fd703ba236f4e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22f01a651548bc" /><Relationship Type="http://schemas.openxmlformats.org/officeDocument/2006/relationships/image" Target="/ppt/media/image2.png" Id="R98ba46fd36374117" /><Relationship Type="http://schemas.openxmlformats.org/officeDocument/2006/relationships/notesSlide" Target="/ppt/notesSlides/notesSlide4.xml" Id="R2d37d094783d47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23b29a2614489b" /><Relationship Type="http://schemas.openxmlformats.org/officeDocument/2006/relationships/image" Target="/ppt/media/image2.png" Id="Rd8cb2a1f574e4fad" /><Relationship Type="http://schemas.openxmlformats.org/officeDocument/2006/relationships/hyperlink" Target="https://samvaad360.streamlit.app/" TargetMode="External" Id="R2548e72151b4477a" /><Relationship Type="http://schemas.openxmlformats.org/officeDocument/2006/relationships/hyperlink" Target="https://github.com/Cherie05/samvaad360" TargetMode="External" Id="R7744d077073a4daf" /><Relationship Type="http://schemas.openxmlformats.org/officeDocument/2006/relationships/notesSlide" Target="/ppt/notesSlides/notesSlide5.xml" Id="Rd95087d9724542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9ecb41ce494c73" /><Relationship Type="http://schemas.openxmlformats.org/officeDocument/2006/relationships/image" Target="/ppt/media/image3.png" Id="R378b42ed8abe4667" /><Relationship Type="http://schemas.openxmlformats.org/officeDocument/2006/relationships/notesSlide" Target="/ppt/notesSlides/notesSlide6.xml" Id="Rd5a336cd484d402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0" name="Google Shape;54;p13"/>
          <p:cNvPicPr>
            <a:picLocks xmlns:a="http://schemas.openxmlformats.org/drawingml/2006/main" noChangeAspect="1"/>
          </p:cNvPicPr>
          <p:nvPr/>
        </p:nvPicPr>
        <p:blipFill rotWithShape="1">
          <a:blip xmlns:r="http://schemas.openxmlformats.org/officeDocument/2006/relationships" xmlns:a="http://schemas.openxmlformats.org/drawingml/2006/main" r:embed="Rbcbae0d8190a443c">
            <a:alphaModFix/>
          </a:blip>
          <a:srcRect xmlns:a="http://schemas.openxmlformats.org/drawingml/2006/main" l="0" t="0" r="0" b="0"/>
          <a:stretch xmlns:a="http://schemas.openxmlformats.org/drawingml/2006/main"/>
        </p:blipFill>
        <p:spPr>
          <a:xfrm xmlns:a="http://schemas.openxmlformats.org/drawingml/2006/main">
            <a:off x="-12" y="0"/>
            <a:ext cx="9144018" cy="5143501"/>
          </a:xfrm>
          <a:prstGeom xmlns:a="http://schemas.openxmlformats.org/drawingml/2006/main" prst="rect">
            <a:avLst/>
          </a:prstGeom>
          <a:ln xmlns:a="http://schemas.openxmlformats.org/drawingml/2006/main">
            <a:noFill/>
          </a:ln>
        </p:spPr>
      </p:pic>
      <p:sp>
        <p:nvSpPr>
          <p:cNvPr id="55" name="Google Shape;55;p13">
            <a:extLst xmlns:a="http://schemas.openxmlformats.org/drawingml/2006/main">
              <a:ext uri="{FF2B5EF4-FFF2-40B4-BE49-F238E27FC236}">
                <a16:creationId xmlns:a16="http://schemas.microsoft.com/office/drawing/2014/main" id="{9D331057-F179-486D-89B6-79266D9C9C74}"/>
              </a:ext>
            </a:extLst>
          </p:cNvPr>
          <p:cNvSpPr>
            <a:spLocks xmlns:a="http://schemas.openxmlformats.org/drawingml/2006/main" noGrp="1"/>
          </p:cNvSpPr>
          <p:nvPr/>
        </p:nvSpPr>
        <p:spPr>
          <a:xfrm xmlns:a="http://schemas.openxmlformats.org/drawingml/2006/main">
            <a:off x="402808" y="3192600"/>
            <a:ext cx="7152900" cy="37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8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Name : Glacier Queries</a:t>
            </a:r>
            <a:endParaRPr sz="1343" b="0" i="0" u="none" cap="none">
              <a:solidFill>
                <a:srgbClr val="202729"/>
              </a:solidFill>
              <a:latin typeface="Manrope SemiBold"/>
              <a:ea typeface="Manrope SemiBold"/>
              <a:cs typeface="Manrope SemiBold"/>
            </a:endParaRPr>
          </a:p>
        </p:txBody>
      </p:sp>
      <p:sp>
        <p:nvSpPr>
          <p:cNvPr id="56" name="Google Shape;56;p13">
            <a:extLst xmlns:a="http://schemas.openxmlformats.org/drawingml/2006/main">
              <a:ext uri="{FF2B5EF4-FFF2-40B4-BE49-F238E27FC236}">
                <a16:creationId xmlns:a16="http://schemas.microsoft.com/office/drawing/2014/main" id="{2A80A3F8-D234-4ED2-9E63-E8C9148A7DFE}"/>
              </a:ext>
            </a:extLst>
          </p:cNvPr>
          <p:cNvSpPr>
            <a:spLocks xmlns:a="http://schemas.openxmlformats.org/drawingml/2006/main" noGrp="1"/>
          </p:cNvSpPr>
          <p:nvPr/>
        </p:nvSpPr>
        <p:spPr>
          <a:xfrm xmlns:a="http://schemas.openxmlformats.org/drawingml/2006/main">
            <a:off x="402788" y="4250161"/>
            <a:ext cx="7152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7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Problem Statement : Customer 360 and Next Best Action Engine</a:t>
            </a:r>
            <a:endParaRPr sz="1343" b="0" i="0" u="none" cap="none">
              <a:solidFill>
                <a:srgbClr val="202729"/>
              </a:solidFill>
              <a:latin typeface="Manrope SemiBold"/>
              <a:ea typeface="Manrope SemiBold"/>
              <a:cs typeface="Manrope SemiBold"/>
            </a:endParaRPr>
          </a:p>
        </p:txBody>
      </p:sp>
      <p:sp>
        <p:nvSpPr>
          <p:cNvPr id="57" name="Google Shape;57;p13">
            <a:extLst xmlns:a="http://schemas.openxmlformats.org/drawingml/2006/main">
              <a:ext uri="{FF2B5EF4-FFF2-40B4-BE49-F238E27FC236}">
                <a16:creationId xmlns:a16="http://schemas.microsoft.com/office/drawing/2014/main" id="{3FF1AD55-20F1-4093-83BE-26264E99A8DB}"/>
              </a:ext>
            </a:extLst>
          </p:cNvPr>
          <p:cNvSpPr>
            <a:spLocks xmlns:a="http://schemas.openxmlformats.org/drawingml/2006/main" noGrp="1"/>
          </p:cNvSpPr>
          <p:nvPr/>
        </p:nvSpPr>
        <p:spPr>
          <a:xfrm xmlns:a="http://schemas.openxmlformats.org/drawingml/2006/main">
            <a:off x="402798" y="3534656"/>
            <a:ext cx="7152900" cy="37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8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Leader Name : Arunvpp</a:t>
            </a:r>
            <a:endParaRPr sz="1343" b="0" i="0" u="none" cap="none">
              <a:solidFill>
                <a:srgbClr val="202729"/>
              </a:solidFill>
              <a:latin typeface="Manrope SemiBold"/>
              <a:ea typeface="Manrope SemiBold"/>
              <a:cs typeface="Manrope SemiBold"/>
            </a:endParaRPr>
          </a:p>
        </p:txBody>
      </p:sp>
      <p:sp>
        <p:nvSpPr>
          <p:cNvPr id="58" name="Google Shape;58;p13">
            <a:extLst xmlns:a="http://schemas.openxmlformats.org/drawingml/2006/main">
              <a:ext uri="{FF2B5EF4-FFF2-40B4-BE49-F238E27FC236}">
                <a16:creationId xmlns:a16="http://schemas.microsoft.com/office/drawing/2014/main" id="{BAE6AD11-4581-4880-87EF-F08BDB16D068}"/>
              </a:ext>
            </a:extLst>
          </p:cNvPr>
          <p:cNvSpPr>
            <a:spLocks xmlns:a="http://schemas.openxmlformats.org/drawingml/2006/main" noGrp="1"/>
          </p:cNvSpPr>
          <p:nvPr/>
        </p:nvSpPr>
        <p:spPr>
          <a:xfrm xmlns:a="http://schemas.openxmlformats.org/drawingml/2006/main">
            <a:off x="402788" y="3907261"/>
            <a:ext cx="7152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7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Size : 1</a:t>
            </a:r>
            <a:endParaRPr sz="1343" b="0" i="0" u="none" cap="none">
              <a:solidFill>
                <a:srgbClr val="202729"/>
              </a:solidFill>
              <a:latin typeface="Manrope SemiBold"/>
              <a:ea typeface="Manrope SemiBold"/>
              <a:cs typeface="Manrope SemiBold"/>
            </a:endParaRPr>
          </a:p>
        </p:txBody>
      </p:sp>
    </p:spTree>
    <p:extLst>
      <p:ext uri="{BB962C8B-B14F-4D97-AF65-F5344CB8AC3E}">
        <p14:creationId xmlns:p14="http://schemas.microsoft.com/office/powerpoint/2010/main" val="14709882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6" name="Google Shape;63;p14"/>
          <p:cNvPicPr>
            <a:picLocks xmlns:a="http://schemas.openxmlformats.org/drawingml/2006/main" noChangeAspect="1"/>
          </p:cNvPicPr>
          <p:nvPr/>
        </p:nvPicPr>
        <p:blipFill rotWithShape="1">
          <a:blip xmlns:r="http://schemas.openxmlformats.org/officeDocument/2006/relationships" xmlns:a="http://schemas.openxmlformats.org/drawingml/2006/main" r:embed="R5431c4c53e4e46b8">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64" name="Google Shape;64;p14">
            <a:extLst xmlns:a="http://schemas.openxmlformats.org/drawingml/2006/main">
              <a:ext uri="{FF2B5EF4-FFF2-40B4-BE49-F238E27FC236}">
                <a16:creationId xmlns:a16="http://schemas.microsoft.com/office/drawing/2014/main" id="{7DBB8532-4C72-4A18-AC8D-0DD1B1279F1F}"/>
              </a:ext>
            </a:extLst>
          </p:cNvPr>
          <p:cNvSpPr>
            <a:spLocks xmlns:a="http://schemas.openxmlformats.org/drawingml/2006/main" noGrp="1"/>
          </p:cNvSpPr>
          <p:nvPr/>
        </p:nvSpPr>
        <p:spPr>
          <a:xfrm xmlns:a="http://schemas.openxmlformats.org/drawingml/2006/main">
            <a:off x="329100" y="600420"/>
            <a:ext cx="8485800" cy="429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lnSpcReduction="20000"/>
          </a:bodyPr>
          <a:lstStyle xmlns:a="http://schemas.openxmlformats.org/drawingml/2006/main"/>
          <a:p xmlns:a="http://schemas.openxmlformats.org/drawingml/2006/main">
            <a:pPr>
              <a:lnSpc>
                <a:spcPct val="115000"/>
              </a:lnSpc>
              <a:spcBef>
                <a:spcPts val="0"/>
              </a:spcBef>
              <a:spcAft>
                <a:spcPts val="0"/>
              </a:spcAft>
              <a:buNone/>
            </a:pPr>
            <a:r>
              <a:rPr sz="1700" b="1">
                <a:solidFill>
                  <a:srgbClr val="202729"/>
                </a:solidFill>
                <a:latin typeface="Manrope"/>
                <a:ea typeface="Manrope"/>
                <a:cs typeface="Manrope"/>
              </a:rPr>
              <a:t>Samvaad360 | Problem Brief</a:t>
            </a:r>
          </a:p>
          <a:p xmlns:a="http://schemas.openxmlformats.org/drawingml/2006/main">
            <a:pPr>
              <a:lnSpc>
                <a:spcPct val="115000"/>
              </a:lnSpc>
              <a:spcBef>
                <a:spcPts val="0"/>
              </a:spcBef>
              <a:spcAft>
                <a:spcPts val="0"/>
              </a:spcAft>
              <a:buNone/>
            </a:pPr>
            <a:r>
              <a:rPr sz="1442" b="1" i="1">
                <a:solidFill>
                  <a:srgbClr val="202729"/>
                </a:solidFill>
                <a:latin typeface="Manrope"/>
                <a:ea typeface="Manrope"/>
                <a:cs typeface="Manrope"/>
              </a:rPr>
              <a:t>Customer 360 and Next Best Action Engine | Lending</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Target user and business pain</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Relationship and support officers work across fragmented records.</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Repayment facts alone can miss job loss, disputes and opt-out.</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Why the next conversation matters</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A growth offer can become inappropriate after a hardship reply.</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Officers need the reason, cited evidence and a reviewable action.</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Implemented response</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Join loans, payments, emails and call transcripts in Customer 360.</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Apply consent, hardship and approval gates before next actions.</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Re-evaluate new context; stop stale offers and route human help.</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Domain: synthetic lender servicing; no insurance claims demo.</a:t>
            </a:r>
          </a:p>
        </p:txBody>
      </p:sp>
    </p:spTree>
    <p:extLst>
      <p:ext uri="{BB962C8B-B14F-4D97-AF65-F5344CB8AC3E}">
        <p14:creationId xmlns:p14="http://schemas.microsoft.com/office/powerpoint/2010/main" val="102590905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66" name="Google Shape;63;p14"/>
          <p:cNvPicPr>
            <a:picLocks xmlns:a="http://schemas.openxmlformats.org/drawingml/2006/main" noChangeAspect="1"/>
          </p:cNvPicPr>
          <p:nvPr/>
        </p:nvPicPr>
        <p:blipFill rotWithShape="1">
          <a:blip xmlns:r="http://schemas.openxmlformats.org/officeDocument/2006/relationships" xmlns:a="http://schemas.openxmlformats.org/drawingml/2006/main" r:embed="R6f37606049ae43eb">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64" name="Google Shape;64;p14">
            <a:extLst xmlns:a="http://schemas.openxmlformats.org/drawingml/2006/main">
              <a:ext uri="{FF2B5EF4-FFF2-40B4-BE49-F238E27FC236}">
                <a16:creationId xmlns:a16="http://schemas.microsoft.com/office/drawing/2014/main" id="{7DBB8532-4C72-4A18-AC8D-0DD1B1279F1F}"/>
              </a:ext>
            </a:extLst>
          </p:cNvPr>
          <p:cNvSpPr>
            <a:spLocks xmlns:a="http://schemas.openxmlformats.org/drawingml/2006/main" noGrp="1"/>
          </p:cNvSpPr>
          <p:nvPr/>
        </p:nvSpPr>
        <p:spPr>
          <a:xfrm xmlns:a="http://schemas.openxmlformats.org/drawingml/2006/main">
            <a:off x="329100" y="600420"/>
            <a:ext cx="8485800" cy="429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99556" lnSpcReduction="20000"/>
          </a:bodyPr>
          <a:lstStyle xmlns:a="http://schemas.openxmlformats.org/drawingml/2006/main"/>
          <a:p xmlns:a="http://schemas.openxmlformats.org/drawingml/2006/main">
            <a:pPr>
              <a:lnSpc>
                <a:spcPct val="115000"/>
              </a:lnSpc>
              <a:spcBef>
                <a:spcPts val="0"/>
              </a:spcBef>
              <a:spcAft>
                <a:spcPts val="0"/>
              </a:spcAft>
              <a:buNone/>
            </a:pPr>
            <a:r>
              <a:rPr sz="1700" b="1">
                <a:solidFill>
                  <a:srgbClr val="202729"/>
                </a:solidFill>
                <a:latin typeface="Manrope"/>
                <a:ea typeface="Manrope"/>
                <a:cs typeface="Manrope"/>
              </a:rPr>
              <a:t>Samvaad360 | Architecture Diagram</a:t>
            </a:r>
          </a:p>
          <a:p xmlns:a="http://schemas.openxmlformats.org/drawingml/2006/main">
            <a:pPr>
              <a:lnSpc>
                <a:spcPct val="115000"/>
              </a:lnSpc>
              <a:spcBef>
                <a:spcPts val="0"/>
              </a:spcBef>
              <a:spcAft>
                <a:spcPts val="0"/>
              </a:spcAft>
              <a:buNone/>
            </a:pPr>
            <a:r>
              <a:rPr sz="1442" b="1" i="1">
                <a:solidFill>
                  <a:srgbClr val="202729"/>
                </a:solidFill>
                <a:latin typeface="Manrope"/>
                <a:ea typeface="Manrope"/>
                <a:cs typeface="Manrope"/>
              </a:rPr>
              <a:t>Structured and unstructured data to a guarded next action</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Loan / repayment facts + email / call transcript + preferences</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                         ↓</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Snowflake fictional snapshot  →  fixed, read-only reader</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                         ↓</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Python evidence + deterministic policy engine + approval gates</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                         ↓</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Streamlit: Customer 360  →  Review queue  →  Conversation</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Private operational path: FastAPI + persistent SQLite</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Reviewed intake / versioned imports / servicing / audit records</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CoCo skills: evidence  →  generate  →  approved runner</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Native CoCo verified with local CLI + isolated fictional data.</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Public changes stay visit-only. Private Snowflake sync is pending.</a:t>
            </a:r>
          </a:p>
        </p:txBody>
      </p:sp>
    </p:spTree>
    <p:extLst>
      <p:ext uri="{BB962C8B-B14F-4D97-AF65-F5344CB8AC3E}">
        <p14:creationId xmlns:p14="http://schemas.microsoft.com/office/powerpoint/2010/main" val="102590905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66" name="Google Shape;63;p14"/>
          <p:cNvPicPr>
            <a:picLocks xmlns:a="http://schemas.openxmlformats.org/drawingml/2006/main" noChangeAspect="1"/>
          </p:cNvPicPr>
          <p:nvPr/>
        </p:nvPicPr>
        <p:blipFill rotWithShape="1">
          <a:blip xmlns:r="http://schemas.openxmlformats.org/officeDocument/2006/relationships" xmlns:a="http://schemas.openxmlformats.org/drawingml/2006/main" r:embed="R98ba46fd36374117">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64" name="Google Shape;64;p14">
            <a:extLst xmlns:a="http://schemas.openxmlformats.org/drawingml/2006/main">
              <a:ext uri="{FF2B5EF4-FFF2-40B4-BE49-F238E27FC236}">
                <a16:creationId xmlns:a16="http://schemas.microsoft.com/office/drawing/2014/main" id="{7DBB8532-4C72-4A18-AC8D-0DD1B1279F1F}"/>
              </a:ext>
            </a:extLst>
          </p:cNvPr>
          <p:cNvSpPr>
            <a:spLocks xmlns:a="http://schemas.openxmlformats.org/drawingml/2006/main" noGrp="1"/>
          </p:cNvSpPr>
          <p:nvPr/>
        </p:nvSpPr>
        <p:spPr>
          <a:xfrm xmlns:a="http://schemas.openxmlformats.org/drawingml/2006/main">
            <a:off x="329100" y="600420"/>
            <a:ext cx="8485800" cy="429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lnSpcReduction="20000"/>
          </a:bodyPr>
          <a:lstStyle xmlns:a="http://schemas.openxmlformats.org/drawingml/2006/main"/>
          <a:p xmlns:a="http://schemas.openxmlformats.org/drawingml/2006/main">
            <a:pPr>
              <a:lnSpc>
                <a:spcPct val="115000"/>
              </a:lnSpc>
              <a:spcBef>
                <a:spcPts val="0"/>
              </a:spcBef>
              <a:spcAft>
                <a:spcPts val="0"/>
              </a:spcAft>
              <a:buNone/>
            </a:pPr>
            <a:r>
              <a:rPr sz="1700" b="1">
                <a:solidFill>
                  <a:srgbClr val="202729"/>
                </a:solidFill>
                <a:latin typeface="Manrope"/>
                <a:ea typeface="Manrope"/>
                <a:cs typeface="Manrope"/>
              </a:rPr>
              <a:t>Samvaad360 | Impact Statement</a:t>
            </a:r>
          </a:p>
          <a:p xmlns:a="http://schemas.openxmlformats.org/drawingml/2006/main">
            <a:pPr>
              <a:lnSpc>
                <a:spcPct val="115000"/>
              </a:lnSpc>
              <a:spcBef>
                <a:spcPts val="0"/>
              </a:spcBef>
              <a:spcAft>
                <a:spcPts val="0"/>
              </a:spcAft>
              <a:buNone/>
            </a:pPr>
            <a:r>
              <a:rPr sz="1442" b="1" i="1">
                <a:solidFill>
                  <a:srgbClr val="202729"/>
                </a:solidFill>
                <a:latin typeface="Manrope"/>
                <a:ea typeface="Manrope"/>
                <a:cs typeface="Manrope"/>
              </a:rPr>
              <a:t>Measured prototype verification; business uplift not yet measured</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Verified today</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557 CI tests; 20 hosted browser checks; 6 private portal checks.</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20 fictional customers; six public workspaces; Snowflake reader.</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Observable workflow outcome</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A new hardship reply removes an eligible growth proposal.</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The journey, evidence and officer handoff remain explainable.</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Scalability and use beyond the demo</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Shared snapshots and query reservations bound app query usage.</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Reviewed source imports and outbox projection support integration.</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Next: managed database, SSO, private sync and carrier validation.</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No proven ROI, churn reduction or production readiness claimed.</a:t>
            </a:r>
          </a:p>
        </p:txBody>
      </p:sp>
    </p:spTree>
    <p:extLst>
      <p:ext uri="{BB962C8B-B14F-4D97-AF65-F5344CB8AC3E}">
        <p14:creationId xmlns:p14="http://schemas.microsoft.com/office/powerpoint/2010/main" val="102590905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66" name="Google Shape;63;p14"/>
          <p:cNvPicPr>
            <a:picLocks xmlns:a="http://schemas.openxmlformats.org/drawingml/2006/main" noChangeAspect="1"/>
          </p:cNvPicPr>
          <p:nvPr/>
        </p:nvPicPr>
        <p:blipFill rotWithShape="1">
          <a:blip xmlns:r="http://schemas.openxmlformats.org/officeDocument/2006/relationships" xmlns:a="http://schemas.openxmlformats.org/drawingml/2006/main" r:embed="Rd8cb2a1f574e4fad">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64" name="Google Shape;64;p14">
            <a:extLst xmlns:a="http://schemas.openxmlformats.org/drawingml/2006/main">
              <a:ext uri="{FF2B5EF4-FFF2-40B4-BE49-F238E27FC236}">
                <a16:creationId xmlns:a16="http://schemas.microsoft.com/office/drawing/2014/main" id="{7DBB8532-4C72-4A18-AC8D-0DD1B1279F1F}"/>
              </a:ext>
            </a:extLst>
          </p:cNvPr>
          <p:cNvSpPr>
            <a:spLocks xmlns:a="http://schemas.openxmlformats.org/drawingml/2006/main" noGrp="1"/>
          </p:cNvSpPr>
          <p:nvPr/>
        </p:nvSpPr>
        <p:spPr>
          <a:xfrm xmlns:a="http://schemas.openxmlformats.org/drawingml/2006/main">
            <a:off x="329100" y="600420"/>
            <a:ext cx="8485800" cy="429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lnSpcReduction="20000"/>
          </a:bodyPr>
          <a:lstStyle xmlns:a="http://schemas.openxmlformats.org/drawingml/2006/main"/>
          <a:p xmlns:a="http://schemas.openxmlformats.org/drawingml/2006/main">
            <a:pPr>
              <a:lnSpc>
                <a:spcPct val="115000"/>
              </a:lnSpc>
              <a:spcBef>
                <a:spcPts val="0"/>
              </a:spcBef>
              <a:spcAft>
                <a:spcPts val="0"/>
              </a:spcAft>
              <a:buNone/>
            </a:pPr>
            <a:r>
              <a:rPr sz="1700" b="1">
                <a:solidFill>
                  <a:srgbClr val="202729"/>
                </a:solidFill>
                <a:latin typeface="Manrope"/>
                <a:ea typeface="Manrope"/>
                <a:cs typeface="Manrope"/>
              </a:rPr>
              <a:t>Samvaad360 | Demonstration and Public Links</a:t>
            </a:r>
          </a:p>
          <a:p xmlns:a="http://schemas.openxmlformats.org/drawingml/2006/main">
            <a:pPr>
              <a:lnSpc>
                <a:spcPct val="115000"/>
              </a:lnSpc>
              <a:spcBef>
                <a:spcPts val="0"/>
              </a:spcBef>
              <a:spcAft>
                <a:spcPts val="0"/>
              </a:spcAft>
              <a:buNone/>
            </a:pPr>
            <a:r>
              <a:rPr sz="1442" b="1" i="1">
                <a:solidFill>
                  <a:srgbClr val="202729"/>
                </a:solidFill>
                <a:latin typeface="Manrope"/>
                <a:ea typeface="Manrope"/>
                <a:cs typeface="Manrope"/>
              </a:rPr>
              <a:t>Glacier Queries | Arunvpp | Fictional customer journey</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Try the working journey</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Customer 360: Kabir Bose → compare a job loss → cited action.</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Imran Shaikh → demo review → conversation → hardship reply.</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Show growth stopping, human handoff and revised evidence.</a:t>
            </a:r>
          </a:p>
          <a:p xmlns:a="http://schemas.openxmlformats.org/drawingml/2006/main">
            <a:pPr marL="32" indent="-24">
              <a:lnSpc>
                <a:spcPct val="115000"/>
              </a:lnSpc>
              <a:spcBef>
                <a:spcPts val="0"/>
              </a:spcBef>
              <a:spcAft>
                <a:spcPts val="0"/>
              </a:spcAft>
              <a:buNone/>
            </a:pPr>
            <a:r>
              <a:rPr sz="1700">
                <a:solidFill>
                  <a:srgbClr val="202729"/>
                </a:solidFill>
                <a:latin typeface="Manrope"/>
                <a:ea typeface="Manrope"/>
                <a:cs typeface="Manrope"/>
              </a:rPr>
              <a:t>Customer hub: onboarding, source preview/import and servicing.</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Deployed prototype</a:t>
            </a:r>
          </a:p>
          <a:p xmlns:a="http://schemas.openxmlformats.org/drawingml/2006/main">
            <a:pPr>
              <a:lnSpc>
                <a:spcPct val="115000"/>
              </a:lnSpc>
              <a:spcBef>
                <a:spcPts val="0"/>
              </a:spcBef>
              <a:spcAft>
                <a:spcPts val="0"/>
              </a:spcAft>
              <a:buNone/>
            </a:pPr>
            <a:r>
              <a:rPr sz="1700" u="sng">
                <a:solidFill>
                  <a:srgbClr val="202729"/>
                </a:solidFill>
                <a:latin typeface="Manrope"/>
                <a:ea typeface="Manrope"/>
                <a:cs typeface="Manrope"/>
                <a:hlinkClick xmlns:r="http://schemas.openxmlformats.org/officeDocument/2006/relationships" r:id="R2548e72151b4477a"/>
              </a:rPr>
              <a:t>https://samvaad360.streamlit.app/</a:t>
            </a:r>
          </a:p>
          <a:p xmlns:a="http://schemas.openxmlformats.org/drawingml/2006/main">
            <a:pPr>
              <a:lnSpc>
                <a:spcPct val="115000"/>
              </a:lnSpc>
              <a:spcBef>
                <a:spcPts val="16"/>
              </a:spcBef>
              <a:spcAft>
                <a:spcPts val="0"/>
              </a:spcAft>
              <a:buNone/>
            </a:pPr>
            <a:r>
              <a:rPr sz="1700" b="1">
                <a:solidFill>
                  <a:srgbClr val="202729"/>
                </a:solidFill>
                <a:latin typeface="Manrope"/>
                <a:ea typeface="Manrope"/>
                <a:cs typeface="Manrope"/>
              </a:rPr>
              <a:t>Public source, checks and modular CoCo skills</a:t>
            </a:r>
          </a:p>
          <a:p xmlns:a="http://schemas.openxmlformats.org/drawingml/2006/main">
            <a:pPr>
              <a:lnSpc>
                <a:spcPct val="115000"/>
              </a:lnSpc>
              <a:spcBef>
                <a:spcPts val="0"/>
              </a:spcBef>
              <a:spcAft>
                <a:spcPts val="0"/>
              </a:spcAft>
              <a:buNone/>
            </a:pPr>
            <a:r>
              <a:rPr sz="1700" u="sng">
                <a:solidFill>
                  <a:srgbClr val="202729"/>
                </a:solidFill>
                <a:latin typeface="Manrope"/>
                <a:ea typeface="Manrope"/>
                <a:cs typeface="Manrope"/>
                <a:hlinkClick xmlns:r="http://schemas.openxmlformats.org/officeDocument/2006/relationships" r:id="R7744d077073a4daf"/>
              </a:rPr>
              <a:t>https://github.com/Cherie05/samvaad360</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Public reviews/conversations are simulations; real calls disabled.</a:t>
            </a:r>
          </a:p>
          <a:p xmlns:a="http://schemas.openxmlformats.org/drawingml/2006/main">
            <a:pPr>
              <a:lnSpc>
                <a:spcPct val="115000"/>
              </a:lnSpc>
              <a:spcBef>
                <a:spcPts val="0"/>
              </a:spcBef>
              <a:spcAft>
                <a:spcPts val="0"/>
              </a:spcAft>
              <a:buNone/>
            </a:pPr>
            <a:r>
              <a:rPr sz="1700">
                <a:solidFill>
                  <a:srgbClr val="202729"/>
                </a:solidFill>
                <a:latin typeface="Manrope"/>
                <a:ea typeface="Manrope"/>
                <a:cs typeface="Manrope"/>
              </a:rPr>
              <a:t>Native CoCo result: COMPLETED / CALLBACK / simulate.</a:t>
            </a:r>
          </a:p>
        </p:txBody>
      </p:sp>
    </p:spTree>
    <p:extLst>
      <p:ext uri="{BB962C8B-B14F-4D97-AF65-F5344CB8AC3E}">
        <p14:creationId xmlns:p14="http://schemas.microsoft.com/office/powerpoint/2010/main" val="102590905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Google Shape;85;p18"/>
          <p:cNvPicPr>
            <a:picLocks xmlns:a="http://schemas.openxmlformats.org/drawingml/2006/main" noChangeAspect="1"/>
          </p:cNvPicPr>
          <p:nvPr/>
        </p:nvPicPr>
        <p:blipFill rotWithShape="1">
          <a:blip xmlns:r="http://schemas.openxmlformats.org/officeDocument/2006/relationships" xmlns:a="http://schemas.openxmlformats.org/drawingml/2006/main" r:embed="R378b42ed8abe4667">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91542613"/>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2026-10-06T16:39:59.9160000Z</dcterms:created>
  <dcterms:modified xsi:type="dcterms:W3CDTF">2026-10-06T16:39:59.9160000Z</dcterms:modified>
</coreProperties>
</file>